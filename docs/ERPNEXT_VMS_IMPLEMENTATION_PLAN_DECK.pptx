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371600"/>
            <a:ext cx="10728655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80160" y="1920240"/>
            <a:ext cx="3291840" cy="365760"/>
          </a:xfrm>
          <a:prstGeom prst="roundRect">
            <a:avLst/>
          </a:prstGeom>
          <a:solidFill>
            <a:srgbClr val="0369A1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ENTERPRISE ERP &amp; VMS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ERPNext &amp; Vehicle Management System</a:t>
            </a:r>
          </a:p>
          <a:p>
            <a:pPr>
              <a:spcBef>
                <a:spcPts val="800"/>
              </a:spcBef>
              <a:defRPr sz="2000" b="1">
                <a:solidFill>
                  <a:srgbClr val="0EA5E9"/>
                </a:solidFill>
              </a:defRPr>
            </a:pPr>
            <a:r>
              <a:t>Comprehensive Network Implementation Plan &amp; Scope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01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t>• Scope of Work: 7 Service Branches &amp; 3 Central Warehouses Network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• Focus: Phase 1 Prototype Deployment at Automan Car Care Center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• Integrated Modules: VMS Operations, POS Cashiering, BIR CAS Tax Suite, Intercompany Hub, Bin Barcoding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Strategic Objectives &amp; Enterprise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Transitioning from fragmented branch silos to a centralized, real-time automotive service &amp; warehouse 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74520"/>
            <a:ext cx="548640" cy="3657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Unified Multi-Branch Operations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Consolidates 7 branches and 3 warehouses under a single PostgreSQL/Frappe ERP core with standardized pricing, vehicle history, and service catalog.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39312" y="1874520"/>
            <a:ext cx="548640" cy="36576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Real-Time Inventory &amp; ₱47M Stock Control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Live bin-level tracking, automated intercompany supply chain from Dau/Mexico central warehouses, and mobile barcode put-away &amp; picking.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1874520"/>
            <a:ext cx="548640" cy="36576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100% BIR CAS Tax &amp; Audit Compliance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Built-in Philippine BIR CAS modules: Form 2307, Sales Journal, Purchases Book, Cash Receipts (CRJ), Cash Disbursement (CDJ), and General Ledger.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874520"/>
            <a:ext cx="54864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Role-Based Branch Security &amp; Analytics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Branch staff are strictly scoped to their assigned company while Executives (CEO, COO, CFO, Auditor) maintain full consolidated performance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DEPLOYMENT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Multi-Entity Network Scope: 7 Branches &amp; 3 Central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Hub-and-spoke inventory distribution connecting central fulfillment centers with branch service bays.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📦 3 Central Fulfillment Warehouses (Hubs)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Ultra MRF Warehouse Dau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Main Central Distribution Hub (Bulk Tires, Parts &amp; Consumables)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San Fernando Warehouse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Regional Hub for Pampanga South &amp; Bataan Supply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Ultra MRF Mexico Warehouse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Heavy Storage, Containerized Tires, Rims &amp; Alloy Wheels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🚗 7 Service &amp; Retail Branches (Spokes)</a:t>
            </a:r>
          </a:p>
          <a:p>
            <a:pPr>
              <a:spcBef>
                <a:spcPts val="400"/>
              </a:spcBef>
              <a:defRPr sz="1200" b="1">
                <a:solidFill>
                  <a:srgbClr val="10B981"/>
                </a:solidFill>
              </a:defRPr>
            </a:pPr>
            <a:r>
              <a:t>• Automan Car Care Center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⭐ Phase 1 Prototype Center (Full Suite Pilot)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Dau Main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High-Volume Service, Mechanical &amp; Tire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Dau Annex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Express Quick Service, Oil Change &amp; Underchassis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San Fernando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Flagship Service Center (Mechanical, Tires, Alignments)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Wheel Core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Wheels, Mags &amp; Performance Tire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The Wheelhub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Boutique Alignment, Suspension &amp; Wheels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Telebastagan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Multi-Bay Quick Service &amp; Preventive Maintenance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Phased Rollout Strategy: Prototype-First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De-risking the enterprise deployment by perfecting all workflows in Automan before expanding network-wide.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28600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1: PROTOTYPE PILOT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1 –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Automan Car Care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Full pilot of Front Desk &amp; Job Order lifecycle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Vehicle POS cashiering &amp; receipt printing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Item catalog &amp; Bin location barcode setup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BIR Invoicing &amp; Philippine tax validation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Staff training &amp; operational sign-off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93592" y="1783080"/>
            <a:ext cx="2286000" cy="64008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2: WAREHOUSE HUBS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5 –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3 Central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Dau, San Fernando, Mexico warehouse setup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Bulk inventory count &amp; bin mapping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Intercompany automated purchase/sales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Mobile barcode receiving &amp; dispatch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8504" y="1783080"/>
            <a:ext cx="2286000" cy="64008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3: CLUSTER 1 BRANCHES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8 –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Dau Main, Dau Annex, SF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Deployment to 3 high-volume branches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Master vehicle registry linking (38k+ units)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Local branch cashiers &amp; POS profile rollout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Branch user permission &amp; role isolation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43416" y="1783080"/>
            <a:ext cx="228600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4: CLUSTER 2 &amp; GO-LIVE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11 –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Wheel Core, Wheelhub, Tele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Final 3 specialty branches onboarding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Consolidated Executive BI &amp; Analytics launch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Final BIR CAS audit trail sign-off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Hypercare support &amp; steady-state handoff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1: Vehicle Management &amp; Operations Control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Complete front desk, service bay, and vehicle registry command center running on live VPS.</a:t>
            </a:r>
          </a:p>
        </p:txBody>
      </p:sp>
      <p:pic>
        <p:nvPicPr>
          <p:cNvPr id="5" name="Picture 4" descr="main_desk_workspace_17890222147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Operational Capabilities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38,654 Registered Vehicles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Complete vehicle master registry with VIN, engine, chassis, and make/model tracking.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₱2.22M+ Lifetime Revenue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Live tracking of completed service job orders and counter retail transactions.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₱46.99M Stock Valuation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Consolidated inventory valuation across 11 warehouse and branch entities.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Structured Front-Desk Workflow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One-click access from Vehicle Estimate $\rightarrow$ Inspection $\rightarrow$ Job Order $\rightarrow$ Invoicing.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Vehicle History Card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Every service, part replaced, and inspection logged under the vehicle plate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2: Vehicle Management Analytics &amp; Branch-Level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Executive multi-company analytics combined with strict branch isolation for branch staff.</a:t>
            </a:r>
          </a:p>
        </p:txBody>
      </p:sp>
      <p:pic>
        <p:nvPicPr>
          <p:cNvPr id="5" name="Picture 4" descr="vehicle_analytics_dashboard_17890222338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Business Intelligence &amp; Security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Role-Based Branch Scoping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Branch staff only see data for their assigned company (e.g. Automan only).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Executive Consolidated View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Admins, CEO, CFO, and Operations Directors see all 11 companies consolidated.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Labor vs Parts Breakdown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Visualizes service labor sales (₱104.7k) vs. tire/parts retail (₱2.11M).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Top Selling Services &amp; Labor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Ranks top revenue services (Periodic Maintenance, Wheel Alignment, Brake Service).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Tires &amp; Mags Sales Ranking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Automated tracking of top-selling tire sizes (185/65R14, 205/55R16) and alloy wheels.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3: Fast Vehicle POS Terminal &amp; Multi-Payment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High-speed front counter cashiering designed specifically for automotive bays and parts counters.</a:t>
            </a:r>
          </a:p>
        </p:txBody>
      </p:sp>
      <p:pic>
        <p:nvPicPr>
          <p:cNvPr id="5" name="Picture 4" descr="vehicle_pos_terminal_1789022268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POS Cashiering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Vehicle Plate Search &amp; Tagging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Link every POS transaction to a customer vehicle plate for complete service history.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Barcode &amp; Category Filters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Instant search by barcode, part number, or category (Tires, Brakes, Chassis, Oils).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Quick Cash Denominations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One-tap cash buttons (+100, +200, +500, +1000) for rapid counter checkout.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Multi-Channel Digital Payments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Supports Cash, Credit/Debit Card, GCash, Maya, BDO Bank Transfer.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Thermal Receipt Printing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Auto-prints 80mm/58mm thermal receipts with BIR transaction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4: Automan Prototype Live Sales Invoicing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Live submitted service transaction ACC-SINV-2026-00447 at Automan Car Care Center.</a:t>
            </a:r>
          </a:p>
        </p:txBody>
      </p:sp>
      <p:pic>
        <p:nvPicPr>
          <p:cNvPr id="5" name="Picture 4" descr="automan_sales_invoice_178902232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t>Automan Pilot Results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30 Real Service Transactions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30 complete automotive service and repair invoices submitted on VPS totaling ₱107,300.00.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ACC Invoice Series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Official Automan numbering format (ACC-SINV-2026-00418 to 00447).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Customer &amp; Vehicle Linkage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All invoices tagged with customer names, vehicle plates, labor hours, and parts.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Automated Payment Entries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Instant reconciliation against Automan Cash/Bank accounts in Philippine Peso (PHP).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Live Stock Deduction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Automatic inventory ledger impact on Automan local warehouse stock.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5: 100% BIR CAS Philippine Tax &amp; Accounting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Fully deployed compliance books, withholding certificates, and financial reporting on VPS.</a:t>
            </a:r>
          </a:p>
        </p:txBody>
      </p:sp>
      <p:pic>
        <p:nvPicPr>
          <p:cNvPr id="5" name="Picture 4" descr="invoicing_workspace_17890222894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BIR Compliance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BIR Form 2307 Generation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Automated Certificate of Creditable Tax Withheld at Source for B2B transactions.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BIR Sales &amp; Purchase Books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One-click generation of Sales Journal and Purchases Book with official TIN headers.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Cash Flow Journals (CRJ &amp; CDJ)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Compliant Cash Receipts Journal and Cash Disbursements Journal.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General Journal &amp; General Ledger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Standardized accounting ledger with automated VAT 2550 computation.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Real-Time Financial Dashboard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Live Profit &amp; Loss, Accounts Receivable, and Payables tracking across all entities.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PROTOTYPE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Phase 1: Automan Car Care Center Detailed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Actionable 4-week execution blueprint for the prototype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286000" cy="50292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1: Setup &amp; Master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Configure Automan Company &amp; Chart of Accounts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Import Automan Service Master Catalog (PMS, Alignment, Brakes)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Import Initial Stock Inventory &amp; Barcodes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Setup Bin Locations (Rack/Shelf QR tags)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Setup Automan POS Profile &amp; Cashier accounts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93592" y="1783080"/>
            <a:ext cx="2286000" cy="5029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2: Operations &amp; Front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Deploy Vehicle Estimate &amp; Job Order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Configure Service Advisor &amp; Technician roles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Deploy Mobile Camera &amp; POS terminal at counter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Test 30 real pilot service &amp; retail transactions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Validate thermal receipt layout &amp; branding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18504" y="1783080"/>
            <a:ext cx="2286000" cy="50292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3: Supply Chain &amp; BIR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Link Automan replenishment to Dau Warehouse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Test Intercompany PO $\rightarrow$ SO $\rightarrow$ DN $\rightarrow$ PI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Generate BIR Sales Journal &amp; CRJ for pilot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Verify BIR Form 2307 withholding certificates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Validate General Ledger &amp; P&amp;L balance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43416" y="1783080"/>
            <a:ext cx="22860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4: UAT &amp; Prototype Sign-Off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Execute end-to-end User Acceptance Testing (UAT)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Staff training (Advisors, Cashiers, Technicians)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Evaluate prototype KPIs &amp; bottleneck audit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Formal Executive Prototype Sign-Off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Freeze template for Phase 2 &amp; 3 branch rollout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ORGANIZATIONAL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Change Management, Training Framework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Ensuring high user adoption, operational discipline, and zero downtime during transition.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👥 Role-Based Training Matrix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Service Advisors &amp; Bay Front Desk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Vehicle check-in, estimate creation, inspection reports, labor allocation, and customer communication.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Cashiers &amp; Counter Staff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POS terminal, barcode scanning, payment reconciliation (Cash/GCash/Card), closing cash shifts.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Warehousemen &amp; Stock Keepers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Mobile barcode put-away, shelf bin scanning, material receipt, intercompany stock fulfillment.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Accountants &amp; Finance Staff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BIR compliance generation, 2307 withholding, journal posting, daily sales reconciliation, VAT filing.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Executives &amp; Branch Managers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Vehicle Management Analytics, branch performance tracking, margin analysis, multi-company consolidation.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🛡 Project Governance &amp; Support Model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Executive Steering Committee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Weekly milestone review with CEO, Operations Head, and Lead Consultant.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Daily 15-Minute Standup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Branch project champion + technical team resolving operational issues.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Hypercare Support (2 Weeks Post Go-Live)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Dedicated on-site &amp; remote support engineer per branch during first 14 days.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Standardized SOP Manuals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Illustrated step-by-step visual SOPs provided to each branch station.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Automated Database Backups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Nightly automated PostgreSQL and Frappe file backups with off-site redundancy.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MILESTONE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12-Week Master Implementation Schedule &amp; 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Clear stage-gate milestones with tangible deliverables at each phase.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82880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1 - 4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83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1: Automan Prototype Pilot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Automan Live Go-Live &amp;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920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COMPLETED / VALIDATED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828800" cy="64008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5 - 7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926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2: 3 Central Warehouses Rollout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Dau, SF, Mexico Warehouse Bins &amp; 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3063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READY FOR EXECUTION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114800"/>
            <a:ext cx="1828800" cy="64008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8 - 10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3: Cluster 1 Branches Rollout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Dau Main, Dau Annex, San Fernando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206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8B5CF6"/>
                </a:solidFill>
              </a:defRPr>
            </a:pPr>
            <a:r>
              <a:t>SCHEDULED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5257800"/>
            <a:ext cx="182880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11 - 12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4: Cluster 2 &amp; Enterprise Go-Live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Wheel Core, Wheelhub, Telebastagan + BI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349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FINAL MILESTONE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