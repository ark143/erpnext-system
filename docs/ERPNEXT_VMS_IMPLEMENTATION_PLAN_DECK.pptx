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1" d="100"/>
          <a:sy n="81" d="100"/>
        </p:scale>
        <p:origin x="725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31520" y="1371600"/>
            <a:ext cx="10728655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280160" y="1920240"/>
            <a:ext cx="3291840" cy="365760"/>
          </a:xfrm>
          <a:prstGeom prst="roundRect">
            <a:avLst/>
          </a:prstGeom>
          <a:solidFill>
            <a:srgbClr val="0369A1"/>
          </a:solidFill>
          <a:ln w="127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8FAFC"/>
                </a:solidFill>
              </a:defRPr>
            </a:pPr>
            <a:r>
              <a:t>ENTERPRISE ERP &amp; VMS ROLLOUT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468880"/>
            <a:ext cx="9601200" cy="995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Arial"/>
              </a:defRPr>
            </a:pPr>
            <a:r>
              <a:rPr dirty="0" err="1"/>
              <a:t>ERPNext</a:t>
            </a:r>
            <a:r>
              <a:rPr dirty="0"/>
              <a:t> &amp; Vehicle Management System</a:t>
            </a:r>
          </a:p>
          <a:p>
            <a:pPr>
              <a:spcBef>
                <a:spcPts val="800"/>
              </a:spcBef>
              <a:defRPr sz="2000" b="1">
                <a:solidFill>
                  <a:srgbClr val="0EA5E9"/>
                </a:solidFill>
              </a:defRPr>
            </a:pPr>
            <a:r>
              <a:rPr dirty="0"/>
              <a:t>Implementation Plan &amp; Scope of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4114800"/>
            <a:ext cx="9601200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F8FAFC"/>
                </a:solidFill>
              </a:defRPr>
            </a:pPr>
            <a:r>
              <a:rPr dirty="0"/>
              <a:t>• Scope of Work: 7 Service Branches &amp; 3 Central Warehouses Network</a:t>
            </a:r>
          </a:p>
          <a:p>
            <a:pPr>
              <a:defRPr sz="1400" b="1">
                <a:solidFill>
                  <a:srgbClr val="10B981"/>
                </a:solidFill>
              </a:defRPr>
            </a:pPr>
            <a:r>
              <a:rPr dirty="0"/>
              <a:t>• Focus: Phase 1 Prototype Deployment at </a:t>
            </a:r>
            <a:r>
              <a:rPr dirty="0" err="1"/>
              <a:t>Automan</a:t>
            </a:r>
            <a:r>
              <a:rPr dirty="0"/>
              <a:t> Car Care Center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rPr dirty="0"/>
              <a:t>• Integrated Modules: VMS Operations, POS Cashiering, BIR </a:t>
            </a:r>
            <a:r>
              <a:rPr lang="en-US" dirty="0"/>
              <a:t>Reports</a:t>
            </a:r>
            <a:r>
              <a:rPr dirty="0"/>
              <a:t>, Intercompany Hub, Bin Barcoding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Arial"/>
              </a:defRPr>
            </a:pPr>
            <a:r>
              <a:t>EXECUTIVE BRIEFING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Strategic Objectives &amp; Enterprise Value Proposition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Transitioning from fragmented branch silos to a centralized, real-time automotive service &amp; warehouse ecosystem.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56032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14400" y="1874520"/>
            <a:ext cx="548640" cy="3657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8FAFC"/>
                </a:solidFill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23160"/>
            <a:ext cx="21945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8FAFC"/>
                </a:solidFill>
              </a:defRPr>
            </a:pPr>
            <a:r>
              <a:t>Unified Multi-Branch Operations</a:t>
            </a:r>
          </a:p>
          <a:p>
            <a:pPr>
              <a:spcBef>
                <a:spcPts val="1200"/>
              </a:spcBef>
              <a:defRPr sz="1200">
                <a:solidFill>
                  <a:srgbClr val="94A3B8"/>
                </a:solidFill>
              </a:defRPr>
            </a:pPr>
            <a:r>
              <a:t>Consolidates 7 branches and 3 warehouses under a single PostgreSQL/Frappe ERP core with standardized pricing, vehicle history, and service catalog.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6432" y="1645920"/>
            <a:ext cx="256032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639312" y="1874520"/>
            <a:ext cx="548640" cy="365760"/>
          </a:xfrm>
          <a:prstGeom prst="roundRect">
            <a:avLst/>
          </a:prstGeom>
          <a:solidFill>
            <a:srgbClr val="10B981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8FAFC"/>
                </a:solidFill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39312" y="2423160"/>
            <a:ext cx="2194560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8FAFC"/>
                </a:solidFill>
              </a:defRPr>
            </a:pPr>
            <a:r>
              <a:rPr dirty="0"/>
              <a:t>Real-Time Inventory &amp;  Stock Control</a:t>
            </a:r>
          </a:p>
          <a:p>
            <a:pPr>
              <a:spcBef>
                <a:spcPts val="1200"/>
              </a:spcBef>
              <a:defRPr sz="1200">
                <a:solidFill>
                  <a:srgbClr val="94A3B8"/>
                </a:solidFill>
              </a:defRPr>
            </a:pPr>
            <a:r>
              <a:rPr dirty="0"/>
              <a:t>Live bin-level tracking, automated intercompany supply chain from </a:t>
            </a:r>
            <a:r>
              <a:rPr dirty="0" err="1"/>
              <a:t>Dau</a:t>
            </a:r>
            <a:r>
              <a:rPr dirty="0"/>
              <a:t>/Mexico central warehouses, and mobile barcode put-away &amp; picking.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1344" y="1645920"/>
            <a:ext cx="256032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364224" y="1874520"/>
            <a:ext cx="548640" cy="365760"/>
          </a:xfrm>
          <a:prstGeom prst="roundRect">
            <a:avLst/>
          </a:prstGeom>
          <a:solidFill>
            <a:srgbClr val="8B5CF6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8FAFC"/>
                </a:solidFill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224" y="2423160"/>
            <a:ext cx="2194560" cy="14003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8FAFC"/>
                </a:solidFill>
              </a:defRPr>
            </a:pPr>
            <a:r>
              <a:rPr lang="en-US" dirty="0"/>
              <a:t>BIR Reports</a:t>
            </a:r>
            <a:endParaRPr dirty="0"/>
          </a:p>
          <a:p>
            <a:pPr>
              <a:spcBef>
                <a:spcPts val="1200"/>
              </a:spcBef>
              <a:defRPr sz="1200">
                <a:solidFill>
                  <a:srgbClr val="94A3B8"/>
                </a:solidFill>
              </a:defRPr>
            </a:pPr>
            <a:r>
              <a:rPr dirty="0"/>
              <a:t>Built-in Philippine BIR CAS modules:  Sales Journal, Purchases Book, Cash Receipts (CRJ), Cash Disbursement (CDJ), and General Ledger.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06256" y="1645920"/>
            <a:ext cx="256032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9089136" y="1874520"/>
            <a:ext cx="548640" cy="36576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8FAFC"/>
                </a:solidFill>
              </a:defRPr>
            </a:pPr>
            <a: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89136" y="2423160"/>
            <a:ext cx="21945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8FAFC"/>
                </a:solidFill>
              </a:defRPr>
            </a:pPr>
            <a:r>
              <a:t>Role-Based Branch Security &amp; Analytics</a:t>
            </a:r>
          </a:p>
          <a:p>
            <a:pPr>
              <a:spcBef>
                <a:spcPts val="1200"/>
              </a:spcBef>
              <a:defRPr sz="1200">
                <a:solidFill>
                  <a:srgbClr val="94A3B8"/>
                </a:solidFill>
              </a:defRPr>
            </a:pPr>
            <a:r>
              <a:t>Branch staff are strictly scoped to their assigned company while Executives (CEO, COO, CFO, Auditor) maintain full consolidated performance visibility.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Arial"/>
              </a:defRPr>
            </a:pPr>
            <a:r>
              <a:t>DEPLOYMENT TOPOLOGY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Multi-Entity Network Scope: 7 Branches &amp; 3 Central Warehouses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Hub-and-spoke inventory distribution connecting central fulfillment centers with branch service bays.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EA5E9"/>
                </a:solidFill>
              </a:defRPr>
            </a:pPr>
            <a:r>
              <a:t>📦 3 Central Fulfillment Warehouses (Hubs)</a:t>
            </a:r>
          </a:p>
          <a:p>
            <a:pPr>
              <a:spcBef>
                <a:spcPts val="1000"/>
              </a:spcBef>
              <a:defRPr sz="1300" b="1">
                <a:solidFill>
                  <a:srgbClr val="F8FAFC"/>
                </a:solidFill>
              </a:defRPr>
            </a:pPr>
            <a:r>
              <a:t>• Ultra MRF Warehouse Dau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Main Central Distribution Hub (Bulk Tires, Parts &amp; Consumables)</a:t>
            </a:r>
          </a:p>
          <a:p>
            <a:pPr>
              <a:spcBef>
                <a:spcPts val="1000"/>
              </a:spcBef>
              <a:defRPr sz="1300" b="1">
                <a:solidFill>
                  <a:srgbClr val="F8FAFC"/>
                </a:solidFill>
              </a:defRPr>
            </a:pPr>
            <a:r>
              <a:t>• San Fernando Warehouse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Regional Hub for Pampanga South &amp; Bataan Supply</a:t>
            </a:r>
          </a:p>
          <a:p>
            <a:pPr>
              <a:spcBef>
                <a:spcPts val="1000"/>
              </a:spcBef>
              <a:defRPr sz="1300" b="1">
                <a:solidFill>
                  <a:srgbClr val="F8FAFC"/>
                </a:solidFill>
              </a:defRPr>
            </a:pPr>
            <a:r>
              <a:t>• Ultra MRF Mexico Warehouse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Heavy Storage, Containerized Tires, Rims &amp; Alloy Wheels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92240" y="182880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0B981"/>
                </a:solidFill>
              </a:defRPr>
            </a:pPr>
            <a:r>
              <a:t>🚗 7 Service &amp; Retail Branches (Spokes)</a:t>
            </a:r>
          </a:p>
          <a:p>
            <a:pPr>
              <a:spcBef>
                <a:spcPts val="400"/>
              </a:spcBef>
              <a:defRPr sz="1200" b="1">
                <a:solidFill>
                  <a:srgbClr val="10B981"/>
                </a:solidFill>
              </a:defRPr>
            </a:pPr>
            <a:r>
              <a:t>• Automan Car Care Center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⭐ Phase 1 Prototype Center (Full Suite Pilot)</a:t>
            </a:r>
          </a:p>
          <a:p>
            <a:pPr>
              <a:spcBef>
                <a:spcPts val="400"/>
              </a:spcBef>
              <a:defRPr sz="1200" b="1">
                <a:solidFill>
                  <a:srgbClr val="F8FAFC"/>
                </a:solidFill>
              </a:defRPr>
            </a:pPr>
            <a:r>
              <a:t>• Ultra MRF Dau Main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High-Volume Service, Mechanical &amp; Tire Center</a:t>
            </a:r>
          </a:p>
          <a:p>
            <a:pPr>
              <a:spcBef>
                <a:spcPts val="400"/>
              </a:spcBef>
              <a:defRPr sz="1200" b="1">
                <a:solidFill>
                  <a:srgbClr val="F8FAFC"/>
                </a:solidFill>
              </a:defRPr>
            </a:pPr>
            <a:r>
              <a:t>• Ultra MRF Dau Annex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Express Quick Service, Oil Change &amp; Underchassis</a:t>
            </a:r>
          </a:p>
          <a:p>
            <a:pPr>
              <a:spcBef>
                <a:spcPts val="400"/>
              </a:spcBef>
              <a:defRPr sz="1200" b="1">
                <a:solidFill>
                  <a:srgbClr val="F8FAFC"/>
                </a:solidFill>
              </a:defRPr>
            </a:pPr>
            <a:r>
              <a:t>• Ultra MRF San Fernando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Flagship Service Center (Mechanical, Tires, Alignments)</a:t>
            </a:r>
          </a:p>
          <a:p>
            <a:pPr>
              <a:spcBef>
                <a:spcPts val="400"/>
              </a:spcBef>
              <a:defRPr sz="1200" b="1">
                <a:solidFill>
                  <a:srgbClr val="F8FAFC"/>
                </a:solidFill>
              </a:defRPr>
            </a:pPr>
            <a:r>
              <a:t>• Wheel Core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Wheels, Mags &amp; Performance Tire Center</a:t>
            </a:r>
          </a:p>
          <a:p>
            <a:pPr>
              <a:spcBef>
                <a:spcPts val="400"/>
              </a:spcBef>
              <a:defRPr sz="1200" b="1">
                <a:solidFill>
                  <a:srgbClr val="F8FAFC"/>
                </a:solidFill>
              </a:defRPr>
            </a:pPr>
            <a:r>
              <a:t>• The Wheelhub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Boutique Alignment, Suspension &amp; Wheels Center</a:t>
            </a:r>
          </a:p>
          <a:p>
            <a:pPr>
              <a:spcBef>
                <a:spcPts val="400"/>
              </a:spcBef>
              <a:defRPr sz="1200" b="1">
                <a:solidFill>
                  <a:srgbClr val="F8FAFC"/>
                </a:solidFill>
              </a:defRPr>
            </a:pPr>
            <a:r>
              <a:t>• Ultra MRF Telebastagan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Multi-Bay Quick Service &amp; Preventive Maintenance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Arial"/>
              </a:defRPr>
            </a:pPr>
            <a:r>
              <a:t>IMPLEMENTATION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Phased Rollout Strategy: Prototype-First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De-risking the enterprise deployment by perfecting all workflows in Automan before expanding network-wide.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56032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68680" y="1783080"/>
            <a:ext cx="2286000" cy="640080"/>
          </a:xfrm>
          <a:prstGeom prst="roundRect">
            <a:avLst/>
          </a:prstGeom>
          <a:solidFill>
            <a:srgbClr val="10B981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8FAFC"/>
                </a:solidFill>
              </a:defRPr>
            </a:pPr>
            <a:r>
              <a:t>PHASE 1: PROTOTYPE PILOT</a:t>
            </a:r>
          </a:p>
          <a:p>
            <a:pPr algn="ctr">
              <a:defRPr sz="1000">
                <a:solidFill>
                  <a:srgbClr val="F8FAFC"/>
                </a:solidFill>
              </a:defRPr>
            </a:pPr>
            <a:r>
              <a:t>Weeks 1 –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51460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Target: Automan Car Care Center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017520"/>
            <a:ext cx="22860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• Full pilot of Front Desk &amp; Job Order lifecycle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• Vehicle POS cashiering &amp; receipt printing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• Item catalog &amp; Bin location barcode setup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• BIR Invoicing &amp; Philippine tax validation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• Staff training &amp; operational sign-off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1645920"/>
            <a:ext cx="256032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593592" y="1783080"/>
            <a:ext cx="2286000" cy="64008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8FAFC"/>
                </a:solidFill>
              </a:defRPr>
            </a:pPr>
            <a:r>
              <a:t>PHASE 2: WAREHOUSE HUBS</a:t>
            </a:r>
          </a:p>
          <a:p>
            <a:pPr algn="ctr">
              <a:defRPr sz="1000">
                <a:solidFill>
                  <a:srgbClr val="F8FAFC"/>
                </a:solidFill>
              </a:defRPr>
            </a:pPr>
            <a:r>
              <a:t>Weeks 5 – 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93592" y="251460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Target: 3 Central Warehouses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93592" y="3017520"/>
            <a:ext cx="22860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• Dau, San Fernando, Mexico warehouse setup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• Bulk inventory count &amp; bin mapping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• Intercompany automated purchase/sales flow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• Mobile barcode receiving &amp; dispatch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1645920"/>
            <a:ext cx="256032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318504" y="1783080"/>
            <a:ext cx="2286000" cy="640080"/>
          </a:xfrm>
          <a:prstGeom prst="roundRect">
            <a:avLst/>
          </a:prstGeom>
          <a:solidFill>
            <a:srgbClr val="8B5CF6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8FAFC"/>
                </a:solidFill>
              </a:defRPr>
            </a:pPr>
            <a:r>
              <a:t>PHASE 3: CLUSTER 1 BRANCHES</a:t>
            </a:r>
          </a:p>
          <a:p>
            <a:pPr algn="ctr">
              <a:defRPr sz="1000">
                <a:solidFill>
                  <a:srgbClr val="F8FAFC"/>
                </a:solidFill>
              </a:defRPr>
            </a:pPr>
            <a:r>
              <a:t>Weeks 8 – 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18504" y="251460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Target: Dau Main, Dau Annex, SF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18504" y="3017520"/>
            <a:ext cx="22860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• Deployment to 3 high-volume branches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• Master vehicle registry linking (38k+ units)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• Local branch cashiers &amp; POS profile rollout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• Branch user permission &amp; role isolation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06256" y="1645920"/>
            <a:ext cx="256032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9043416" y="1783080"/>
            <a:ext cx="2286000" cy="64008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8FAFC"/>
                </a:solidFill>
              </a:defRPr>
            </a:pPr>
            <a:r>
              <a:t>PHASE 4: CLUSTER 2 &amp; GO-LIVE</a:t>
            </a:r>
          </a:p>
          <a:p>
            <a:pPr algn="ctr">
              <a:defRPr sz="1000">
                <a:solidFill>
                  <a:srgbClr val="F8FAFC"/>
                </a:solidFill>
              </a:defRPr>
            </a:pPr>
            <a:r>
              <a:t>Weeks 11 – 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43416" y="251460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Target: Wheel Core, Wheelhub, Tele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416" y="3017520"/>
            <a:ext cx="22860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• Final 3 specialty branches onboarding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• Consolidated Executive BI &amp; Analytics launch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• Final BIR CAS audit trail sign-off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• Hypercare support &amp; steady-state handoff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Arial"/>
              </a:defRPr>
            </a:pPr>
            <a:r>
              <a:t>LIVE SYSTEM HIGHLIGHTS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Module 1: Vehicle Management &amp; Operations Control Center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Complete front desk, service bay, and vehicle registry command center running on live VPS.</a:t>
            </a:r>
          </a:p>
        </p:txBody>
      </p:sp>
      <p:pic>
        <p:nvPicPr>
          <p:cNvPr id="5" name="Picture 4" descr="main_desk_workspace_17890222147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858000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772400" y="1645920"/>
            <a:ext cx="365760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55279" y="1828800"/>
            <a:ext cx="3291840" cy="3313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EA5E9"/>
                </a:solidFill>
              </a:defRPr>
            </a:pPr>
            <a:r>
              <a:rPr dirty="0"/>
              <a:t>Operational Capabilities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rPr dirty="0"/>
              <a:t>✔ Registered Vehicles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rPr dirty="0"/>
              <a:t>    Complete vehicle master registry with VIN, engine, chassis, and make/model tracking.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rPr dirty="0"/>
              <a:t>✔ Lifetime Revenue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rPr dirty="0"/>
              <a:t>    Live tracking of completed service job orders and counter retail transactions.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rPr dirty="0"/>
              <a:t>✔ Stock Valuation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rPr dirty="0"/>
              <a:t>    Consolidated inventory valuation across 11 warehouse and branch entities.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rPr dirty="0"/>
              <a:t>✔ Structured Front-Desk Workflow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rPr dirty="0"/>
              <a:t>    One-click access from Vehicle Estimate </a:t>
            </a:r>
            <a:r>
              <a:rPr lang="en-US" dirty="0"/>
              <a:t>&gt;</a:t>
            </a:r>
            <a:r>
              <a:rPr dirty="0"/>
              <a:t> Inspection </a:t>
            </a:r>
            <a:r>
              <a:rPr lang="en-US" dirty="0"/>
              <a:t>&gt;</a:t>
            </a:r>
            <a:r>
              <a:rPr dirty="0"/>
              <a:t>Job Order </a:t>
            </a:r>
            <a:r>
              <a:rPr lang="en-US" dirty="0"/>
              <a:t>&gt;</a:t>
            </a:r>
            <a:r>
              <a:rPr dirty="0"/>
              <a:t> Invoicing.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rPr dirty="0"/>
              <a:t>✔ Vehicle History Card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rPr dirty="0"/>
              <a:t>    Every service, part replaced, and inspection logged under the vehicle plate number.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Arial"/>
              </a:defRPr>
            </a:pPr>
            <a:r>
              <a:t>LIVE SYSTEM HIGHLIGHTS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Module 2: Vehicle Management Analytics &amp; Branch-Level Access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Executive multi-company analytics combined with strict branch isolation for branch staff.</a:t>
            </a:r>
          </a:p>
        </p:txBody>
      </p:sp>
      <p:pic>
        <p:nvPicPr>
          <p:cNvPr id="5" name="Picture 4" descr="vehicle_analytics_dashboard_17890222338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858000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772400" y="1645920"/>
            <a:ext cx="365760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55279" y="18288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Business Intelligence &amp; Security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t>✔ Role-Based Branch Scoping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 Branch staff only see data for their assigned company (e.g. Automan only).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t>✔ Executive Consolidated View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 Admins, CEO, CFO, and Operations Directors see all 11 companies consolidated.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t>✔ Labor vs Parts Breakdown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 Visualizes service labor sales (₱104.7k) vs. tire/parts retail (₱2.11M).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t>✔ Top Selling Services &amp; Labor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 Ranks top revenue services (Periodic Maintenance, Wheel Alignment, Brake Service).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t>✔ Tires &amp; Mags Sales Ranking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 Automated tracking of top-selling tire sizes (185/65R14, 205/55R16) and alloy wheels.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Arial"/>
              </a:defRPr>
            </a:pPr>
            <a:r>
              <a:t>LIVE SYSTEM HIGHLIGHTS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Module 3: Fast Vehicle POS Terminal &amp; Multi-Payment Checkout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High-speed front counter cashiering designed specifically for automotive bays and parts counters.</a:t>
            </a:r>
          </a:p>
        </p:txBody>
      </p:sp>
      <p:pic>
        <p:nvPicPr>
          <p:cNvPr id="5" name="Picture 4" descr="vehicle_pos_terminal_17890222684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858000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772400" y="1645920"/>
            <a:ext cx="365760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55279" y="18288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EA5E9"/>
                </a:solidFill>
              </a:defRPr>
            </a:pPr>
            <a:r>
              <a:t>POS Cashiering Highlights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t>✔ Vehicle Plate Search &amp; Tagging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 Link every POS transaction to a customer vehicle plate for complete service history.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t>✔ Barcode &amp; Category Filters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 Instant search by barcode, part number, or category (Tires, Brakes, Chassis, Oils).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t>✔ Quick Cash Denominations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 One-tap cash buttons (+100, +200, +500, +1000) for rapid counter checkout.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t>✔ Multi-Channel Digital Payments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 Supports Cash, Credit/Debit Card, GCash, Maya, BDO Bank Transfer.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t>✔ Thermal Receipt Printing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 Auto-prints 80mm/58mm thermal receipts with BIR transaction numbers.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Arial"/>
              </a:defRPr>
            </a:pPr>
            <a:r>
              <a:t>LIVE SYSTEM HIGHLIGHTS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Module 4: Automan Prototype Live Sales Invoicing &amp;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70432"/>
            <a:ext cx="1069848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rPr dirty="0"/>
              <a:t>Live submitted service transaction at </a:t>
            </a:r>
            <a:r>
              <a:rPr dirty="0" err="1"/>
              <a:t>Automan</a:t>
            </a:r>
            <a:r>
              <a:rPr dirty="0"/>
              <a:t> Car Care Center.</a:t>
            </a:r>
          </a:p>
        </p:txBody>
      </p:sp>
      <p:pic>
        <p:nvPicPr>
          <p:cNvPr id="5" name="Picture 4" descr="automan_sales_invoice_17890223257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858000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772400" y="1645920"/>
            <a:ext cx="365760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55279" y="1828800"/>
            <a:ext cx="3291840" cy="3159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8B5CF6"/>
                </a:solidFill>
              </a:defRPr>
            </a:pPr>
            <a:r>
              <a:rPr dirty="0" err="1"/>
              <a:t>Automan</a:t>
            </a:r>
            <a:r>
              <a:rPr dirty="0"/>
              <a:t> Pilot Results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rPr dirty="0"/>
              <a:t>✔ Real Service Transactions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rPr dirty="0"/>
              <a:t>    complete automotive service and repair invoices submitted on VPS .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rPr dirty="0"/>
              <a:t>✔ ACC Invoice Series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rPr dirty="0"/>
              <a:t>    Official </a:t>
            </a:r>
            <a:r>
              <a:rPr dirty="0" err="1"/>
              <a:t>Automan</a:t>
            </a:r>
            <a:r>
              <a:rPr dirty="0"/>
              <a:t> numbering format .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rPr dirty="0"/>
              <a:t>✔ Customer &amp; Vehicle Linkage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rPr dirty="0"/>
              <a:t>    All invoices tagged with customer names, vehicle plates, labor hours, and parts.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rPr dirty="0"/>
              <a:t>✔ Automated Payment Entries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rPr dirty="0"/>
              <a:t>    Instant reconciliation against </a:t>
            </a:r>
            <a:r>
              <a:rPr dirty="0" err="1"/>
              <a:t>Automan</a:t>
            </a:r>
            <a:r>
              <a:rPr dirty="0"/>
              <a:t> Cash/Bank accounts in Philippine Peso (PHP).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rPr dirty="0"/>
              <a:t>✔ Live Stock Deduction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rPr dirty="0"/>
              <a:t>    Automatic inventory ledger impact on </a:t>
            </a:r>
            <a:r>
              <a:rPr dirty="0" err="1"/>
              <a:t>Automan</a:t>
            </a:r>
            <a:r>
              <a:rPr dirty="0"/>
              <a:t> local warehouse stock.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Arial"/>
              </a:defRPr>
            </a:pPr>
            <a:r>
              <a:t>LIVE SYSTEM HIGHLIGHTS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33855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rPr dirty="0"/>
              <a:t>Module 5: BIR </a:t>
            </a:r>
            <a:r>
              <a:rPr lang="en-US" dirty="0"/>
              <a:t>Report</a:t>
            </a:r>
            <a:r>
              <a:rPr dirty="0"/>
              <a:t> Philippine Tax &amp; Accounting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Fully deployed compliance books, withholding certificates, and financial reporting on VPS.</a:t>
            </a:r>
          </a:p>
        </p:txBody>
      </p:sp>
      <p:pic>
        <p:nvPicPr>
          <p:cNvPr id="5" name="Picture 4" descr="invoicing_workspace_17890222894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858000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772400" y="1645920"/>
            <a:ext cx="365760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55279" y="1828800"/>
            <a:ext cx="3291840" cy="3313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59E0B"/>
                </a:solidFill>
              </a:defRPr>
            </a:pPr>
            <a:r>
              <a:rPr dirty="0"/>
              <a:t>BIR Compliance Highlights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rPr dirty="0"/>
              <a:t>✔ BIR </a:t>
            </a:r>
            <a:r>
              <a:rPr lang="en-US" dirty="0"/>
              <a:t>Report </a:t>
            </a:r>
            <a:r>
              <a:rPr dirty="0"/>
              <a:t>Generation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rPr dirty="0"/>
              <a:t>    Automated Certificate of Creditable Tax Withheld at Source for B2B transactions.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rPr dirty="0"/>
              <a:t>✔ BIR Sales &amp; Purchase Books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rPr dirty="0"/>
              <a:t>    One-click generation of Sales Journal and Purchases Book with official TIN headers.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rPr dirty="0"/>
              <a:t>✔ Cash Flow Journals (CRJ &amp; CDJ)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rPr dirty="0"/>
              <a:t>    Compliant Cash Receipts Journal and Cash Disbursements Journal.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rPr dirty="0"/>
              <a:t>✔ General Journal &amp; General Ledger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rPr dirty="0"/>
              <a:t>    Standardized accounting ledger with automated VAT 2550 computation.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rPr dirty="0"/>
              <a:t>✔ Real-Time Financial Dashboard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rPr dirty="0"/>
              <a:t>    Live Profit &amp; Loss, Accounts Receivable, and Payables tracking across all entities.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Arial"/>
              </a:defRPr>
            </a:pPr>
            <a:r>
              <a:t>PROTOTYPE 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Phase 1: Automan Car Care Center Detailed Scope of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Actionable 4-week execution blueprint for the prototype pilot.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56032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68680" y="1783080"/>
            <a:ext cx="2286000" cy="502920"/>
          </a:xfrm>
          <a:prstGeom prst="roundRect">
            <a:avLst/>
          </a:prstGeom>
          <a:solidFill>
            <a:srgbClr val="10B981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8FAFC"/>
                </a:solidFill>
              </a:defRPr>
            </a:pPr>
            <a:r>
              <a:t>Week 1: Setup &amp; Master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23160"/>
            <a:ext cx="22860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8FAFC"/>
                </a:solidFill>
              </a:defRPr>
            </a:pPr>
            <a:r>
              <a:t>• Configure Automan Company &amp; Chart of Accounts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• Import Automan Service Master Catalog (PMS, Alignment, Brakes)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• Import Initial Stock Inventory &amp; Barcodes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• Setup Bin Locations (Rack/Shelf QR tags)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• Setup Automan POS Profile &amp; Cashier accounts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6432" y="1645920"/>
            <a:ext cx="256032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593592" y="1783080"/>
            <a:ext cx="2286000" cy="5029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8FAFC"/>
                </a:solidFill>
              </a:defRPr>
            </a:pPr>
            <a:r>
              <a:t>Week 2: Operations &amp; Front Desk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93592" y="2423160"/>
            <a:ext cx="22860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8FAFC"/>
                </a:solidFill>
              </a:defRPr>
            </a:pPr>
            <a:r>
              <a:t>• Deploy Vehicle Estimate &amp; Job Order flow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• Configure Service Advisor &amp; Technician roles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• Deploy Mobile Camera &amp; POS terminal at counter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• Test 30 real pilot service &amp; retail transactions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• Validate thermal receipt layout &amp; branding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1344" y="1645920"/>
            <a:ext cx="256032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318504" y="1783080"/>
            <a:ext cx="2286000" cy="502920"/>
          </a:xfrm>
          <a:prstGeom prst="roundRect">
            <a:avLst/>
          </a:prstGeom>
          <a:solidFill>
            <a:srgbClr val="8B5CF6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8FAFC"/>
                </a:solidFill>
              </a:defRPr>
            </a:pPr>
            <a:r>
              <a:t>Week 3: Supply Chain &amp; BIR Testing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18504" y="2423160"/>
            <a:ext cx="228600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8FAFC"/>
                </a:solidFill>
              </a:defRPr>
            </a:pPr>
            <a:r>
              <a:rPr dirty="0"/>
              <a:t>• Link </a:t>
            </a:r>
            <a:r>
              <a:rPr dirty="0" err="1"/>
              <a:t>Automan</a:t>
            </a:r>
            <a:r>
              <a:rPr dirty="0"/>
              <a:t> replenishment to </a:t>
            </a:r>
            <a:r>
              <a:rPr dirty="0" err="1"/>
              <a:t>Dau</a:t>
            </a:r>
            <a:r>
              <a:rPr dirty="0"/>
              <a:t> Warehouse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rPr dirty="0"/>
              <a:t>• Test Intercompany PO </a:t>
            </a:r>
            <a:r>
              <a:rPr lang="en-US" dirty="0"/>
              <a:t>&gt;</a:t>
            </a:r>
            <a:r>
              <a:rPr dirty="0"/>
              <a:t> SO </a:t>
            </a:r>
            <a:r>
              <a:rPr lang="en-US" dirty="0"/>
              <a:t>&gt;</a:t>
            </a:r>
            <a:r>
              <a:rPr dirty="0"/>
              <a:t> DN </a:t>
            </a:r>
            <a:r>
              <a:rPr lang="en-US" dirty="0"/>
              <a:t>&gt;</a:t>
            </a:r>
            <a:r>
              <a:rPr dirty="0"/>
              <a:t>PI flow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rPr dirty="0"/>
              <a:t>• Generate BIR Sales Journal &amp; CRJ for pilot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rPr dirty="0"/>
              <a:t>• Verify BIR </a:t>
            </a:r>
            <a:r>
              <a:rPr lang="en-US" dirty="0"/>
              <a:t>Report </a:t>
            </a:r>
            <a:r>
              <a:rPr dirty="0"/>
              <a:t> withholding certificates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rPr dirty="0"/>
              <a:t>• Validate General Ledger &amp; P&amp;L balance accuracy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06256" y="1645920"/>
            <a:ext cx="256032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9043416" y="1783080"/>
            <a:ext cx="2286000" cy="50292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8FAFC"/>
                </a:solidFill>
              </a:defRPr>
            </a:pPr>
            <a:r>
              <a:t>Week 4: UAT &amp; Prototype Sign-Off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43416" y="2423160"/>
            <a:ext cx="22860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8FAFC"/>
                </a:solidFill>
              </a:defRPr>
            </a:pPr>
            <a:r>
              <a:t>• Execute end-to-end User Acceptance Testing (UAT)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• Staff training (Advisors, Cashiers, Technicians)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• Evaluate prototype KPIs &amp; bottleneck audit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• Formal Executive Prototype Sign-Off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• Freeze template for Phase 2 &amp; 3 branch rollout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Arial"/>
              </a:defRPr>
            </a:pPr>
            <a:r>
              <a:t>ORGANIZATIONAL READINESS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Change Management, Training Framework &amp;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Ensuring high user adoption, operational discipline, and zero downtime during transition.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4572000" cy="32008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EA5E9"/>
                </a:solidFill>
              </a:defRPr>
            </a:pPr>
            <a:r>
              <a:rPr dirty="0"/>
              <a:t>👥 Role-Based Training Matrix</a:t>
            </a:r>
          </a:p>
          <a:p>
            <a:pPr>
              <a:spcBef>
                <a:spcPts val="600"/>
              </a:spcBef>
              <a:defRPr sz="1200" b="1">
                <a:solidFill>
                  <a:srgbClr val="F8FAFC"/>
                </a:solidFill>
              </a:defRPr>
            </a:pPr>
            <a:r>
              <a:rPr dirty="0"/>
              <a:t>• Service Advisors &amp; Bay Front Desk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rPr dirty="0"/>
              <a:t>   Vehicle check-in, estimate creation, inspection reports, labor allocation, and customer communication.</a:t>
            </a:r>
          </a:p>
          <a:p>
            <a:pPr>
              <a:spcBef>
                <a:spcPts val="600"/>
              </a:spcBef>
              <a:defRPr sz="1200" b="1">
                <a:solidFill>
                  <a:srgbClr val="F8FAFC"/>
                </a:solidFill>
              </a:defRPr>
            </a:pPr>
            <a:r>
              <a:rPr dirty="0"/>
              <a:t>• Cashiers &amp; Counter Staff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rPr dirty="0"/>
              <a:t>   POS terminal, barcode scanning, payment reconciliation (Cash/</a:t>
            </a:r>
            <a:r>
              <a:rPr dirty="0" err="1"/>
              <a:t>GCash</a:t>
            </a:r>
            <a:r>
              <a:rPr dirty="0"/>
              <a:t>/Card), closing cash shifts.</a:t>
            </a:r>
          </a:p>
          <a:p>
            <a:pPr>
              <a:spcBef>
                <a:spcPts val="600"/>
              </a:spcBef>
              <a:defRPr sz="1200" b="1">
                <a:solidFill>
                  <a:srgbClr val="F8FAFC"/>
                </a:solidFill>
              </a:defRPr>
            </a:pPr>
            <a:r>
              <a:rPr dirty="0"/>
              <a:t>• Warehousemen &amp; Stock Keepers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rPr dirty="0"/>
              <a:t>   Mobile barcode put-away, shelf bin scanning, material receipt, intercompany stock fulfillment.</a:t>
            </a:r>
          </a:p>
          <a:p>
            <a:pPr>
              <a:spcBef>
                <a:spcPts val="600"/>
              </a:spcBef>
              <a:defRPr sz="1200" b="1">
                <a:solidFill>
                  <a:srgbClr val="F8FAFC"/>
                </a:solidFill>
              </a:defRPr>
            </a:pPr>
            <a:r>
              <a:rPr dirty="0"/>
              <a:t>• Accountants &amp; Finance Staff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rPr dirty="0"/>
              <a:t>   BIR compliance generation, </a:t>
            </a:r>
            <a:r>
              <a:rPr lang="en-US" dirty="0"/>
              <a:t>BIR Reports</a:t>
            </a:r>
            <a:r>
              <a:rPr dirty="0"/>
              <a:t>, journal posting, daily sales reconciliation, VAT filing.</a:t>
            </a:r>
          </a:p>
          <a:p>
            <a:pPr>
              <a:spcBef>
                <a:spcPts val="600"/>
              </a:spcBef>
              <a:defRPr sz="1200" b="1">
                <a:solidFill>
                  <a:srgbClr val="F8FAFC"/>
                </a:solidFill>
              </a:defRPr>
            </a:pPr>
            <a:r>
              <a:rPr dirty="0"/>
              <a:t>• Executives &amp; Branch Managers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rPr dirty="0"/>
              <a:t>   Vehicle Management Analytics, branch performance tracking, margin analysis, multi-company consolidation.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92240" y="182880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0B981"/>
                </a:solidFill>
              </a:defRPr>
            </a:pPr>
            <a:r>
              <a:t>🛡 Project Governance &amp; Support Model</a:t>
            </a:r>
          </a:p>
          <a:p>
            <a:pPr>
              <a:spcBef>
                <a:spcPts val="600"/>
              </a:spcBef>
              <a:defRPr sz="1200" b="1">
                <a:solidFill>
                  <a:srgbClr val="F8FAFC"/>
                </a:solidFill>
              </a:defRPr>
            </a:pPr>
            <a:r>
              <a:t>• Executive Steering Committee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Weekly milestone review with CEO, Operations Head, and Lead Consultant.</a:t>
            </a:r>
          </a:p>
          <a:p>
            <a:pPr>
              <a:spcBef>
                <a:spcPts val="600"/>
              </a:spcBef>
              <a:defRPr sz="1200" b="1">
                <a:solidFill>
                  <a:srgbClr val="F8FAFC"/>
                </a:solidFill>
              </a:defRPr>
            </a:pPr>
            <a:r>
              <a:t>• Daily 15-Minute Standup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Branch project champion + technical team resolving operational issues.</a:t>
            </a:r>
          </a:p>
          <a:p>
            <a:pPr>
              <a:spcBef>
                <a:spcPts val="600"/>
              </a:spcBef>
              <a:defRPr sz="1200" b="1">
                <a:solidFill>
                  <a:srgbClr val="F8FAFC"/>
                </a:solidFill>
              </a:defRPr>
            </a:pPr>
            <a:r>
              <a:t>• Hypercare Support (2 Weeks Post Go-Live)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Dedicated on-site &amp; remote support engineer per branch during first 14 days.</a:t>
            </a:r>
          </a:p>
          <a:p>
            <a:pPr>
              <a:spcBef>
                <a:spcPts val="600"/>
              </a:spcBef>
              <a:defRPr sz="1200" b="1">
                <a:solidFill>
                  <a:srgbClr val="F8FAFC"/>
                </a:solidFill>
              </a:defRPr>
            </a:pPr>
            <a:r>
              <a:t>• Standardized SOP Manuals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Illustrated step-by-step visual SOPs provided to each branch station.</a:t>
            </a:r>
          </a:p>
          <a:p>
            <a:pPr>
              <a:spcBef>
                <a:spcPts val="600"/>
              </a:spcBef>
              <a:defRPr sz="1200" b="1">
                <a:solidFill>
                  <a:srgbClr val="F8FAFC"/>
                </a:solidFill>
              </a:defRPr>
            </a:pPr>
            <a:r>
              <a:t>• Automated Database Backups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Nightly automated PostgreSQL and Frappe file backups with off-site redundancy.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Arial"/>
              </a:defRPr>
            </a:pPr>
            <a:r>
              <a:t>MILESTONE 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12-Week Master Implementation Schedule &amp; Key Deliverables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Clear stage-gate milestones with tangible deliverables at each phase.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728655" cy="1005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14400" y="1828800"/>
            <a:ext cx="1828800" cy="640080"/>
          </a:xfrm>
          <a:prstGeom prst="roundRect">
            <a:avLst/>
          </a:prstGeom>
          <a:solidFill>
            <a:srgbClr val="10B981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8FAFC"/>
                </a:solidFill>
              </a:defRPr>
            </a:pPr>
            <a:r>
              <a:t>Weeks 1 - 4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78308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8FAFC"/>
                </a:solidFill>
              </a:defRPr>
            </a:pPr>
            <a:r>
              <a:t>Phase 1: Automan Prototype Pilot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Deliverable: Automan Live Go-Live &amp; Sign-Off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0" y="1920240"/>
            <a:ext cx="2560320" cy="457200"/>
          </a:xfrm>
          <a:prstGeom prst="roundRect">
            <a:avLst/>
          </a:prstGeom>
          <a:solidFill>
            <a:srgbClr val="18212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0B981"/>
                </a:solidFill>
              </a:defRPr>
            </a:pPr>
            <a:r>
              <a:t>COMPLETED / VALIDATED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788920"/>
            <a:ext cx="10728655" cy="1005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14400" y="2971800"/>
            <a:ext cx="1828800" cy="64008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8FAFC"/>
                </a:solidFill>
              </a:defRPr>
            </a:pPr>
            <a:r>
              <a:t>Weeks 5 - 7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292608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8FAFC"/>
                </a:solidFill>
              </a:defRPr>
            </a:pPr>
            <a:r>
              <a:t>Phase 2: 3 Central Warehouses Rollout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Deliverable: Dau, SF, Mexico Warehouse Bins &amp; Hub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0" y="3063240"/>
            <a:ext cx="2560320" cy="457200"/>
          </a:xfrm>
          <a:prstGeom prst="roundRect">
            <a:avLst/>
          </a:prstGeom>
          <a:solidFill>
            <a:srgbClr val="18212F"/>
          </a:solidFill>
          <a:ln w="127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EA5E9"/>
                </a:solidFill>
              </a:defRPr>
            </a:pPr>
            <a:r>
              <a:t>READY FOR EXECUTION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931920"/>
            <a:ext cx="10728655" cy="1005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914400" y="4114800"/>
            <a:ext cx="1828800" cy="640080"/>
          </a:xfrm>
          <a:prstGeom prst="roundRect">
            <a:avLst/>
          </a:prstGeom>
          <a:solidFill>
            <a:srgbClr val="8B5CF6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8FAFC"/>
                </a:solidFill>
              </a:defRPr>
            </a:pPr>
            <a:r>
              <a:t>Weeks 8 - 10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406908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8FAFC"/>
                </a:solidFill>
              </a:defRPr>
            </a:pPr>
            <a:r>
              <a:t>Phase 3: Cluster 1 Branches Rollout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Deliverable: Dau Main, Dau Annex, San Fernando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0" y="4206240"/>
            <a:ext cx="2560320" cy="457200"/>
          </a:xfrm>
          <a:prstGeom prst="roundRect">
            <a:avLst/>
          </a:prstGeom>
          <a:solidFill>
            <a:srgbClr val="18212F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8B5CF6"/>
                </a:solidFill>
              </a:defRPr>
            </a:pPr>
            <a:r>
              <a:t>SCHEDULED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074920"/>
            <a:ext cx="10728655" cy="1005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914400" y="5257800"/>
            <a:ext cx="1828800" cy="64008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8FAFC"/>
                </a:solidFill>
              </a:defRPr>
            </a:pPr>
            <a:r>
              <a:t>Weeks 11 - 12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521208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8FAFC"/>
                </a:solidFill>
              </a:defRPr>
            </a:pPr>
            <a:r>
              <a:t>Phase 4: Cluster 2 &amp; Enterprise Go-Live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Deliverable: Wheel Core, Wheelhub, Telebastagan + BI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86800" y="5349240"/>
            <a:ext cx="2560320" cy="457200"/>
          </a:xfrm>
          <a:prstGeom prst="roundRect">
            <a:avLst/>
          </a:prstGeom>
          <a:solidFill>
            <a:srgbClr val="18212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59E0B"/>
                </a:solidFill>
              </a:defRPr>
            </a:pPr>
            <a:r>
              <a:t>FINAL MILESTONE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317</TotalTime>
  <Words>1783</Words>
  <Application>Microsoft Office PowerPoint</Application>
  <PresentationFormat>Widescreen</PresentationFormat>
  <Paragraphs>219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Jose Magiliman Jr.</cp:lastModifiedBy>
  <cp:revision>6</cp:revision>
  <dcterms:created xsi:type="dcterms:W3CDTF">2013-01-27T09:14:16Z</dcterms:created>
  <dcterms:modified xsi:type="dcterms:W3CDTF">2026-09-10T11:57:14Z</dcterms:modified>
  <cp:category/>
</cp:coreProperties>
</file>