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728655" cy="3840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99971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EA5E9"/>
                </a:solidFill>
              </a:defRPr>
            </a:pPr>
            <a:r>
              <a:t>ENTERPRISE AUTOMOTIVE AFTERMARKET &amp; WORKSHOP SYSTEM</a:t>
            </a:r>
          </a:p>
          <a:p>
            <a:pPr>
              <a:spcAft>
                <a:spcPts val="400"/>
              </a:spcAft>
              <a:defRPr sz="3200" b="1">
                <a:solidFill>
                  <a:srgbClr val="FFFFFF"/>
                </a:solidFill>
              </a:defRPr>
            </a:pPr>
            <a:r>
              <a:t>Vehicle Management System (VMS)</a:t>
            </a:r>
          </a:p>
          <a:p>
            <a:pPr>
              <a:spcAft>
                <a:spcPts val="2000"/>
              </a:spcAft>
              <a:defRPr sz="1500">
                <a:solidFill>
                  <a:srgbClr val="CBD5E1"/>
                </a:solidFill>
              </a:defRPr>
            </a:pPr>
            <a:r>
              <a:t>End-to-End Enterprise Architecture: Front-Desk Workshop Operations to Automated General Ledger Accounting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Built on ERPNext v16 / Frappe Framework • High-Performance PostgreSQL Engine • 12 Companies / Branches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212080"/>
            <a:ext cx="2542032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303520"/>
            <a:ext cx="22677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EA5E9"/>
                </a:solidFill>
              </a:defRPr>
            </a:pPr>
            <a:r>
              <a:t>38,654+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Registered Vehicles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5212080"/>
            <a:ext cx="2542032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5303520"/>
            <a:ext cx="22677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2563EB"/>
                </a:solidFill>
              </a:defRPr>
            </a:pPr>
            <a:r>
              <a:t>481+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Job Orders &amp; Services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5212080"/>
            <a:ext cx="2542032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5303520"/>
            <a:ext cx="22677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59E0B"/>
                </a:solidFill>
              </a:defRPr>
            </a:pPr>
            <a:r>
              <a:t>₱ 46.99 M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Managed Stock Valuation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5212080"/>
            <a:ext cx="2542032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416" y="5303520"/>
            <a:ext cx="22677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10B981"/>
                </a:solidFill>
              </a:defRPr>
            </a:pPr>
            <a:r>
              <a:t>100% BIR CAS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Double-Entry GL Compliance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</a:defRPr>
            </a:pPr>
            <a:r>
              <a:t>SYSTEM CORE &amp; ACHIEVEMENTS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Executive Overview: The Complete Automotive ERP Ecosystem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257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9728" cy="2331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48006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🚗 Workshop &amp; Bay Management</a:t>
            </a:r>
          </a:p>
          <a:p>
            <a:pPr>
              <a:lnSpc>
                <a:spcPct val="125000"/>
              </a:lnSpc>
              <a:defRPr sz="1100">
                <a:solidFill>
                  <a:srgbClr val="64748B"/>
                </a:solidFill>
              </a:defRPr>
            </a:pPr>
            <a:r>
              <a:t>Fully digitizes front desk intake, 25/50-point electronic vehicle inspections, service estimates, bay labor dispatch, and job order tracking across 38,654+ customer vehicles.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25880"/>
            <a:ext cx="5257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325880"/>
            <a:ext cx="109728" cy="2331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08760"/>
            <a:ext cx="48006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⚡ High-Speed Touchscreen POS</a:t>
            </a:r>
          </a:p>
          <a:p>
            <a:pPr>
              <a:lnSpc>
                <a:spcPct val="125000"/>
              </a:lnSpc>
              <a:defRPr sz="1100">
                <a:solidFill>
                  <a:srgbClr val="64748B"/>
                </a:solidFill>
              </a:defRPr>
            </a:pPr>
            <a:r>
              <a:t>Unified standalone (/pos-terminal) &amp; desk counter POS with instant barcode scanning, QR badge cashier shift authentication, multi-payment tender, and automatic branch auto-lock.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257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840480"/>
            <a:ext cx="109728" cy="2331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23360"/>
            <a:ext cx="48006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📦 570-Bin Inventory &amp; Safety Handover</a:t>
            </a:r>
          </a:p>
          <a:p>
            <a:pPr>
              <a:lnSpc>
                <a:spcPct val="125000"/>
              </a:lnSpc>
              <a:defRPr sz="1100">
                <a:solidFill>
                  <a:srgbClr val="64748B"/>
                </a:solidFill>
              </a:defRPr>
            </a:pPr>
            <a:r>
              <a:t>Aisle, rack, shelf, and bin slotting across 3 central warehouses and 8 branch stores. Features camera-based QR receiver verification before parts issuance to bays.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840480"/>
            <a:ext cx="5257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3840480"/>
            <a:ext cx="109728" cy="2331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023360"/>
            <a:ext cx="48006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📑 100% BIR CAS &amp; Dual-Ledger Sync</a:t>
            </a:r>
          </a:p>
          <a:p>
            <a:pPr>
              <a:lnSpc>
                <a:spcPct val="125000"/>
              </a:lnSpc>
              <a:defRPr sz="1100">
                <a:solidFill>
                  <a:srgbClr val="64748B"/>
                </a:solidFill>
              </a:defRPr>
            </a:pPr>
            <a:r>
              <a:t>Direct real-time posting from counter POS to standard ERPNext POS Invoices, General Ledger double-entry books (CRJ, CDJ, Sales Journal, Purchases Book, Form 2307), and fixed asset depreciation.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</a:defRPr>
            </a:pPr>
            <a:r>
              <a:t>NETWORK ARCHITECTURE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Multi-Company Enterprise Topology &amp; Multi-Branch Network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2578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08760"/>
            <a:ext cx="4800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</a:defRPr>
            </a:pPr>
            <a:r>
              <a:t>12 Corporate Entities in One Unified Database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Corporate Headquarters:</a:t>
            </a:r>
            <a:br/>
            <a:r>
              <a:t>  - ULTRA MRF (Group Parent Company)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3 Central Logistics Hubs &amp; Distribution Warehouses:</a:t>
            </a:r>
            <a:br/>
            <a:r>
              <a:t>  1. Ultra MRF Warehouse Dau (Main Central Hub)</a:t>
            </a:r>
            <a:br/>
            <a:r>
              <a:t>  2. San Fernando Warehouse (Regional Pampanga Hub)</a:t>
            </a:r>
            <a:br/>
            <a:r>
              <a:t>  3. Ultra MRF Mexico Warehouse (Bulk Tires &amp; Rims)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8 Full-Service Centers &amp; Retail Branches:</a:t>
            </a:r>
            <a:br/>
            <a:r>
              <a:t>  - Automan Car Care Center (Phase 1 Prototype Pilot)</a:t>
            </a:r>
            <a:br/>
            <a:r>
              <a:t>  - Ultra MRF Dau Main &amp; Dau Annex</a:t>
            </a:r>
            <a:br/>
            <a:r>
              <a:t>  - Ultra MRF San Fernando</a:t>
            </a:r>
            <a:br/>
            <a:r>
              <a:t>  - Ultra MRF Telebastagan &amp; Telebastagan 2</a:t>
            </a:r>
            <a:br/>
            <a:r>
              <a:t>  - Wheel Core &amp; The Wheelhub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25880"/>
            <a:ext cx="52578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800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Enterprise Data Scoping &amp; Multi-Tenant Security</a:t>
            </a:r>
          </a:p>
          <a:p>
            <a:pPr>
              <a:spcAft>
                <a:spcPts val="200"/>
              </a:spcAft>
              <a:defRPr sz="1150" b="1">
                <a:solidFill>
                  <a:srgbClr val="0EA5E9"/>
                </a:solidFill>
              </a:defRPr>
            </a:pPr>
            <a:r>
              <a:t>🔒 Strict Branch-Level Data Isolation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Cashiers and service advisors only access data for their assigned branch. Stock balance, POS registers, and job orders are auto-scoped.</a:t>
            </a:r>
          </a:p>
          <a:p>
            <a:pPr>
              <a:spcAft>
                <a:spcPts val="200"/>
              </a:spcAft>
              <a:defRPr sz="1150" b="1">
                <a:solidFill>
                  <a:srgbClr val="0EA5E9"/>
                </a:solidFill>
              </a:defRPr>
            </a:pPr>
            <a:r>
              <a:t>🏢 Independent Chart of Accounts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Each entity maintains its own dedicated Chart of Accounts, default warehouse stores (e.g., Stores - UM, Stores - UMDM), and POS profiles.</a:t>
            </a:r>
          </a:p>
          <a:p>
            <a:pPr>
              <a:spcAft>
                <a:spcPts val="200"/>
              </a:spcAft>
              <a:defRPr sz="1150" b="1">
                <a:solidFill>
                  <a:srgbClr val="0EA5E9"/>
                </a:solidFill>
              </a:defRPr>
            </a:pPr>
            <a:r>
              <a:t>🔄 Automated Intercompany Logistics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Branches request stock from Central Hubs via Material Requests; automatically converts into Intercompany Delivery Notes &amp; Stock Receipts.</a:t>
            </a:r>
          </a:p>
          <a:p>
            <a:pPr>
              <a:spcAft>
                <a:spcPts val="200"/>
              </a:spcAft>
              <a:defRPr sz="1150" b="1">
                <a:solidFill>
                  <a:srgbClr val="0EA5E9"/>
                </a:solidFill>
              </a:defRPr>
            </a:pPr>
            <a:r>
              <a:t>📊 Consolidated Executive Visibility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Leadership (CEO, COO, CFO) accesses group-wide consolidated dashboards and real-time Profit &amp; Loss reports across all 12 entities.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EA5E9"/>
                </a:solidFill>
              </a:defRPr>
            </a:pPr>
            <a:r>
              <a:t>END-TO-END WORKFLOW PIPELINE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Master Architecture: From Workshop Bay to Financial Statements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664208" cy="3474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48132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2563EB"/>
                </a:solidFill>
              </a:defRPr>
            </a:pPr>
            <a:r>
              <a:t>1. INTAKE &amp; REGISTRY</a:t>
            </a:r>
          </a:p>
          <a:p>
            <a:pPr>
              <a:lnSpc>
                <a:spcPct val="130000"/>
              </a:lnSpc>
              <a:defRPr sz="1000">
                <a:solidFill>
                  <a:srgbClr val="CBD5E1"/>
                </a:solidFill>
              </a:defRPr>
            </a:pPr>
            <a:r>
              <a:t>Customer &amp; Vehicle</a:t>
            </a:r>
            <a:br/>
            <a:r>
              <a:t>Plate Lookup</a:t>
            </a:r>
            <a:br/>
            <a:r>
              <a:t>38k+ Master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2926080"/>
            <a:ext cx="18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4A3B8"/>
                </a:solidFill>
              </a:defRPr>
            </a:pPr>
            <a:r>
              <a:t>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42032" y="1463040"/>
            <a:ext cx="1664208" cy="3474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33472" y="1600200"/>
            <a:ext cx="148132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EA5E9"/>
                </a:solidFill>
              </a:defRPr>
            </a:pPr>
            <a:r>
              <a:t>2. INSPECTION</a:t>
            </a:r>
          </a:p>
          <a:p>
            <a:pPr>
              <a:lnSpc>
                <a:spcPct val="130000"/>
              </a:lnSpc>
              <a:defRPr sz="1000">
                <a:solidFill>
                  <a:srgbClr val="CBD5E1"/>
                </a:solidFill>
              </a:defRPr>
            </a:pPr>
            <a:r>
              <a:t>Multi-Point Digital QC</a:t>
            </a:r>
            <a:br/>
            <a:r>
              <a:t>Camera Photos</a:t>
            </a:r>
            <a:br/>
            <a:r>
              <a:t>Condition Checklist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87952" y="2926080"/>
            <a:ext cx="18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4A3B8"/>
                </a:solidFill>
              </a:defRPr>
            </a:pPr>
            <a:r>
              <a:t>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1463040"/>
            <a:ext cx="1664208" cy="3474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3" y="1600200"/>
            <a:ext cx="148132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F59E0B"/>
                </a:solidFill>
              </a:defRPr>
            </a:pPr>
            <a:r>
              <a:t>3. JOB ORDER &amp; BAY</a:t>
            </a:r>
          </a:p>
          <a:p>
            <a:pPr>
              <a:lnSpc>
                <a:spcPct val="130000"/>
              </a:lnSpc>
              <a:defRPr sz="1000">
                <a:solidFill>
                  <a:srgbClr val="CBD5E1"/>
                </a:solidFill>
              </a:defRPr>
            </a:pPr>
            <a:r>
              <a:t>Technician Labor</a:t>
            </a:r>
            <a:br/>
            <a:r>
              <a:t>Parts Allocation</a:t>
            </a:r>
            <a:br/>
            <a:r>
              <a:t>Bay Status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98464" y="2926080"/>
            <a:ext cx="18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4A3B8"/>
                </a:solidFill>
              </a:defRPr>
            </a:pPr>
            <a:r>
              <a:t>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463040"/>
            <a:ext cx="1664208" cy="3474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5" y="1600200"/>
            <a:ext cx="148132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8B5CF6"/>
                </a:solidFill>
              </a:defRPr>
            </a:pPr>
            <a:r>
              <a:t>4. PARTS ISSUANCE</a:t>
            </a:r>
          </a:p>
          <a:p>
            <a:pPr>
              <a:lnSpc>
                <a:spcPct val="130000"/>
              </a:lnSpc>
              <a:defRPr sz="1000">
                <a:solidFill>
                  <a:srgbClr val="CBD5E1"/>
                </a:solidFill>
              </a:defRPr>
            </a:pPr>
            <a:r>
              <a:t>570 Bins Slotting</a:t>
            </a:r>
            <a:br/>
            <a:r>
              <a:t>QR Badge Scan</a:t>
            </a:r>
            <a:br/>
            <a:r>
              <a:t>Handover Photo Proof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8975" y="2926080"/>
            <a:ext cx="18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4A3B8"/>
                </a:solidFill>
              </a:defRPr>
            </a:pPr>
            <a:r>
              <a:t>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3568" y="1463040"/>
            <a:ext cx="1664208" cy="3474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5008" y="1600200"/>
            <a:ext cx="148132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10B981"/>
                </a:solidFill>
              </a:defRPr>
            </a:pPr>
            <a:r>
              <a:t>5. BILLING &amp; POS</a:t>
            </a:r>
          </a:p>
          <a:p>
            <a:pPr>
              <a:lnSpc>
                <a:spcPct val="130000"/>
              </a:lnSpc>
              <a:defRPr sz="1000">
                <a:solidFill>
                  <a:srgbClr val="CBD5E1"/>
                </a:solidFill>
              </a:defRPr>
            </a:pPr>
            <a:r>
              <a:t>Dual-Ledger Posting</a:t>
            </a:r>
            <a:br/>
            <a:r>
              <a:t>Multi-Payment Tender</a:t>
            </a:r>
            <a:br/>
            <a:r>
              <a:t>POS Invoice Generated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19488" y="2926080"/>
            <a:ext cx="18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4A3B8"/>
                </a:solidFill>
              </a:defRPr>
            </a:pPr>
            <a:r>
              <a:t>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1463040"/>
            <a:ext cx="1664208" cy="3474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0" y="1600200"/>
            <a:ext cx="148132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14B8A6"/>
                </a:solidFill>
              </a:defRPr>
            </a:pPr>
            <a:r>
              <a:t>6. GL &amp; REPORTING</a:t>
            </a:r>
          </a:p>
          <a:p>
            <a:pPr>
              <a:lnSpc>
                <a:spcPct val="130000"/>
              </a:lnSpc>
              <a:defRPr sz="1000">
                <a:solidFill>
                  <a:srgbClr val="CBD5E1"/>
                </a:solidFill>
              </a:defRPr>
            </a:pPr>
            <a:r>
              <a:t>Automated GL Entry</a:t>
            </a:r>
            <a:br/>
            <a:r>
              <a:t>100% BIR Books</a:t>
            </a:r>
            <a:br/>
            <a:r>
              <a:t>Executive Analytics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166360"/>
            <a:ext cx="10728655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257800"/>
            <a:ext cx="10241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EA5E9"/>
                </a:solidFill>
              </a:defRPr>
            </a:pPr>
            <a:r>
              <a:t>Triple Traceability &amp; Zero-Discrepancy Guarantee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Every physical action in the workshop bay (labor done, part consumed, technician assigned) is cryptographically linked to a double-entry General Ledger record and inventory bin deduction. No unbilled services, no unaccounted stock.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</a:defRPr>
            </a:pPr>
            <a:r>
              <a:t>OPERATIONAL WORKFLOW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Phase 1: Customer Vehicle Master Registry &amp; Front Desk Intake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2578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08760"/>
            <a:ext cx="4800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</a:defRPr>
            </a:pPr>
            <a:r>
              <a:t>Core Asset Registry (38,654 Active Vehicles)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🚘 Vehicle Master DocType (`tabCustomer Vehicle`)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Tracks License Plate (unique index), VIN / Chassis Number, Engine Number, Make (Toyota, Mitsubishi, etc.), Model, Year, and Odometer Mileage.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👤 Relational Customer Linkage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Tied directly to ERPNext Customer account (`tabCustomer`), maintaining multi-vehicle family or corporate fleet relationships under one billing profile.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🛡️ Space Normalization Hook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Pre-save script sanitizes customer strings (e.g., converting legacy double-space anomalies) to guarantee 100% clean checkouts without link validation crashes.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⏱️ Complete Vehicle Service History Card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Every past Job Order, Inspection, POS invoice, and part installed is indexed by Plate Number for instant customer history lookup at the front desk.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25880"/>
            <a:ext cx="52578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800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Front Desk Vehicle Intake Sequence</a:t>
            </a:r>
          </a:p>
          <a:p>
            <a:pPr>
              <a:spcAft>
                <a:spcPts val="200"/>
              </a:spcAft>
              <a:defRPr sz="1100" b="1">
                <a:solidFill>
                  <a:srgbClr val="0EA5E9"/>
                </a:solidFill>
              </a:defRPr>
            </a:pPr>
            <a:r>
              <a:t>Step 1: Vehicle Plate Search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Advisor enters license plate or scans barcode; system instantly retrieves customer profile and historical repair logs.</a:t>
            </a:r>
          </a:p>
          <a:p>
            <a:pPr>
              <a:spcAft>
                <a:spcPts val="200"/>
              </a:spcAft>
              <a:defRPr sz="1100" b="1">
                <a:solidFill>
                  <a:srgbClr val="0EA5E9"/>
                </a:solidFill>
              </a:defRPr>
            </a:pPr>
            <a:r>
              <a:t>Step 2: Mileage &amp; Concern Intake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Current odometer reading is recorded; customer describes issues (e.g. vibration at 80 km/h, tire replacement, regular PMS).</a:t>
            </a:r>
          </a:p>
          <a:p>
            <a:pPr>
              <a:spcAft>
                <a:spcPts val="200"/>
              </a:spcAft>
              <a:defRPr sz="1100" b="1">
                <a:solidFill>
                  <a:srgbClr val="0EA5E9"/>
                </a:solidFill>
              </a:defRPr>
            </a:pPr>
            <a:r>
              <a:t>Step 3: Auto-Trigger Inspection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System automatically provisions a new `Vehicle Inspection` checklist assigned to the bay intake queue.</a:t>
            </a:r>
          </a:p>
          <a:p>
            <a:pPr>
              <a:spcAft>
                <a:spcPts val="200"/>
              </a:spcAft>
              <a:defRPr sz="1100" b="1">
                <a:solidFill>
                  <a:srgbClr val="0EA5E9"/>
                </a:solidFill>
              </a:defRPr>
            </a:pPr>
            <a:r>
              <a:t>Step 4: Real-Time Fleet Alert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If the vehicle belongs to a corporate fleet, corporate credit limit and negotiated discount pricing rules are automatically applied.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</a:defRPr>
            </a:pPr>
            <a:r>
              <a:t>OPERATIONAL WORKFLOW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Phase 2: Digital Vehicle Inspection &amp; Service Estimation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4290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31546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563EB"/>
                </a:solidFill>
              </a:defRPr>
            </a:pPr>
            <a:r>
              <a:t>📋 Electronic Inspection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Inspection Templates: Configured for 25-Point, 50-Point, or Tire QC checklists.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Granular Item Grading: Mark items as Pass, Attention Needed, or Critical Fail.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Critical Measurements: Tire tread depth (mm), brake pad thickness, battery voltage, and fluid clarity.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Camera Evidence: Direct mobile/tablet photo uploads capturing tire wear or undercarriage leaks.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1325880"/>
            <a:ext cx="34290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17136" y="1508760"/>
            <a:ext cx="31546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59E0B"/>
                </a:solidFill>
              </a:defRPr>
            </a:pPr>
            <a:r>
              <a:t>💡 Auto-Generated Estimates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Conversion from QC: Failed inspection items automatically generate proposed line items in Vehicle Estimate.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Clear Labor &amp; Parts Split: Itemizes technician labor hours alongside required replacement parts &amp; tires.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Margin &amp; Price Checks: Validates standard price list vs. authorized promotional discounts.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Customer Approval: Advisor sends digital quote via SMS/Email or prints for counter signature.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325880"/>
            <a:ext cx="34290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65592" y="1508760"/>
            <a:ext cx="31546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⚙️ Job Order Dispatch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1-Click Conversion: Approved estimate generates `Vehicle Job Order` (`VJO-YYYY-#####`).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Bay Routing: Allocates job to specific bay (Wheel Alignment Bay, Heavy Lifter Bay, Express Bay).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Lead Technician Tagging: Assigns responsible mechanic and records start timestamps.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Material Reservation: Locks required tires/parts in branch warehouse to prevent out-of-stock.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</a:defRPr>
            </a:pPr>
            <a:r>
              <a:t>OPERATIONAL WORKFLOW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Phase 3: Workshop Bay Execution &amp; Job Order Lifecycle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2578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08760"/>
            <a:ext cx="4800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</a:defRPr>
            </a:pPr>
            <a:r>
              <a:t>Job Order Lifecycle &amp; Status Progression</a:t>
            </a:r>
          </a:p>
          <a:p>
            <a:pPr>
              <a:spcAft>
                <a:spcPts val="100"/>
              </a:spcAft>
              <a:defRPr sz="1100" b="1">
                <a:solidFill>
                  <a:srgbClr val="0F172A"/>
                </a:solidFill>
              </a:defRPr>
            </a:pPr>
            <a:r>
              <a:t>🟡 DRAFT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Intake recorded, initial scope defined, awaiting customer or technician review.</a:t>
            </a:r>
          </a:p>
          <a:p>
            <a:pPr>
              <a:spcAft>
                <a:spcPts val="100"/>
              </a:spcAft>
              <a:defRPr sz="1100" b="1">
                <a:solidFill>
                  <a:srgbClr val="0F172A"/>
                </a:solidFill>
              </a:defRPr>
            </a:pPr>
            <a:r>
              <a:t>🔵 IN PROGRESS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Vehicle mounted on bay lift. Mechanics executing alignment, balancing, or parts overhaul.</a:t>
            </a:r>
          </a:p>
          <a:p>
            <a:pPr>
              <a:spcAft>
                <a:spcPts val="100"/>
              </a:spcAft>
              <a:defRPr sz="1100" b="1">
                <a:solidFill>
                  <a:srgbClr val="0F172A"/>
                </a:solidFill>
              </a:defRPr>
            </a:pPr>
            <a:r>
              <a:t>🟠 PENDING PARTS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Work paused awaiting warehouse transfer or special item arrival from Mexico/Dau hubs.</a:t>
            </a:r>
          </a:p>
          <a:p>
            <a:pPr>
              <a:spcAft>
                <a:spcPts val="100"/>
              </a:spcAft>
              <a:defRPr sz="1100" b="1">
                <a:solidFill>
                  <a:srgbClr val="0F172A"/>
                </a:solidFill>
              </a:defRPr>
            </a:pPr>
            <a:r>
              <a:t>🟢 COMPLETED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Bay service finished, post-service quality check passed by Workshop Supervisor.</a:t>
            </a:r>
          </a:p>
          <a:p>
            <a:pPr>
              <a:spcAft>
                <a:spcPts val="100"/>
              </a:spcAft>
              <a:defRPr sz="1100" b="1">
                <a:solidFill>
                  <a:srgbClr val="0F172A"/>
                </a:solidFill>
              </a:defRPr>
            </a:pPr>
            <a:r>
              <a:t>⚪ RELEASED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Customer settled invoice, gate pass generated, vehicle handed over to owner.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25880"/>
            <a:ext cx="52578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800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Service Items vs. Parts Tracking (`VJO` Schema)</a:t>
            </a:r>
          </a:p>
          <a:p>
            <a:pPr>
              <a:spcAft>
                <a:spcPts val="200"/>
              </a:spcAft>
              <a:defRPr sz="1100" b="1">
                <a:solidFill>
                  <a:srgbClr val="0EA5E9"/>
                </a:solidFill>
              </a:defRPr>
            </a:pPr>
            <a:r>
              <a:t>🔧 Job Order Service Items (Labor Table)</a:t>
            </a:r>
          </a:p>
          <a:p>
            <a:pPr>
              <a:spcAft>
                <a:spcPts val="700"/>
              </a:spcAft>
              <a:defRPr sz="1050">
                <a:solidFill>
                  <a:srgbClr val="64748B"/>
                </a:solidFill>
              </a:defRPr>
            </a:pPr>
            <a:r>
              <a:t>Tracks individual labor services (e.g. 4-Wheel Computerized Alignment, PMS 20K Labor, Camber Adjustment). Directly attributes billing to individual technicians for labor commission analytics.</a:t>
            </a:r>
          </a:p>
          <a:p>
            <a:pPr>
              <a:spcAft>
                <a:spcPts val="200"/>
              </a:spcAft>
              <a:defRPr sz="1100" b="1">
                <a:solidFill>
                  <a:srgbClr val="0EA5E9"/>
                </a:solidFill>
              </a:defRPr>
            </a:pPr>
            <a:r>
              <a:t>📦 Job Order Part Items (Materials Table)</a:t>
            </a:r>
          </a:p>
          <a:p>
            <a:pPr>
              <a:spcAft>
                <a:spcPts val="700"/>
              </a:spcAft>
              <a:defRPr sz="1050">
                <a:solidFill>
                  <a:srgbClr val="64748B"/>
                </a:solidFill>
              </a:defRPr>
            </a:pPr>
            <a:r>
              <a:t>Itemizes physical stock consumed (e.g. Yokohama 265/65R17 Tires, Synthetic Motor Oil 5W30, Oil Filters). Enforces exact stock deduction from the branch store.</a:t>
            </a:r>
          </a:p>
          <a:p>
            <a:pPr>
              <a:spcAft>
                <a:spcPts val="200"/>
              </a:spcAft>
              <a:defRPr sz="1100" b="1">
                <a:solidFill>
                  <a:srgbClr val="0EA5E9"/>
                </a:solidFill>
              </a:defRPr>
            </a:pPr>
            <a:r>
              <a:t>⚡ Real-Time Labor vs. Parts Financial Split</a:t>
            </a:r>
          </a:p>
          <a:p>
            <a:pPr>
              <a:spcAft>
                <a:spcPts val="700"/>
              </a:spcAft>
              <a:defRPr sz="1050">
                <a:solidFill>
                  <a:srgbClr val="64748B"/>
                </a:solidFill>
              </a:defRPr>
            </a:pPr>
            <a:r>
              <a:t>Automatically computes `total_labor`, `total_parts`, and `grand_total` in real-time. Live feeds into executive revenue metrics (e.g. ₱104.7k Labor vs ₱2.11M Parts).</a:t>
            </a:r>
          </a:p>
          <a:p>
            <a:pPr>
              <a:spcAft>
                <a:spcPts val="200"/>
              </a:spcAft>
              <a:defRPr sz="1100" b="1">
                <a:solidFill>
                  <a:srgbClr val="0EA5E9"/>
                </a:solidFill>
              </a:defRPr>
            </a:pPr>
            <a:r>
              <a:t>🛡️ Unbilled Service Protection</a:t>
            </a:r>
          </a:p>
          <a:p>
            <a:pPr>
              <a:spcAft>
                <a:spcPts val="700"/>
              </a:spcAft>
              <a:defRPr sz="1050">
                <a:solidFill>
                  <a:srgbClr val="64748B"/>
                </a:solidFill>
              </a:defRPr>
            </a:pPr>
            <a:r>
              <a:t>Technicians cannot mark a job 'Completed' if unrecorded parts or unapproved service add-ons are pending.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</a:defRPr>
            </a:pPr>
            <a:r>
              <a:t>INVENTORY CONTROL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Phase 4: Warehouse Bin Slotting &amp; Receiver Safety Handover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2578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08760"/>
            <a:ext cx="4800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</a:defRPr>
            </a:pPr>
            <a:r>
              <a:t>570 Bin Locations &amp; Shelf Slotting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📍 Granular Bin Hierarchy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Standardized structure across warehouses: Aisle -&gt; Rack -&gt; Shelf -&gt; Bin (e.g. `DAU-TIRE-A01-R02-S03-B04`).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📱 Mobile QR Putaway &amp; Picking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Warehousemen scan bin QR tags during receiving and pick-list processing, eliminating misplaced tires and alloy wheels.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🔄 Multi-Warehouse Balance (`tabBin`)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Real-time stock valuation across ₱46.99M inventory across 3 central warehouses and 8 branch workshop stores.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⚡ Rapid Stock Lookup Join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Optimized SQL join (`vm_pos_get_items`) filters active branch stock in zero latency (&lt;50ms) for high-speed counter POS.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25880"/>
            <a:ext cx="52578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800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EF4444"/>
                </a:solidFill>
              </a:defRPr>
            </a:pPr>
            <a:r>
              <a:t>Receiver Verification &amp; Safety Handover Engine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1. Official Technician QR ID Badges</a:t>
            </a:r>
          </a:p>
          <a:p>
            <a:pPr>
              <a:spcAft>
                <a:spcPts val="700"/>
              </a:spcAft>
              <a:defRPr sz="1050">
                <a:solidFill>
                  <a:srgbClr val="64748B"/>
                </a:solidFill>
              </a:defRPr>
            </a:pPr>
            <a:r>
              <a:t>Every mechanic has an official QR ID badge generated directly from ERPNext Desk with encrypted employee identifier.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2. Mandatory Handover Scan</a:t>
            </a:r>
          </a:p>
          <a:p>
            <a:pPr>
              <a:spcAft>
                <a:spcPts val="700"/>
              </a:spcAft>
              <a:defRPr sz="1050">
                <a:solidFill>
                  <a:srgbClr val="64748B"/>
                </a:solidFill>
              </a:defRPr>
            </a:pPr>
            <a:r>
              <a:t>When warehouseman issues parts via Stock Entry (Material Issue), system renders the Receiver Safety Handover Box.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3. WebRTC Camera Scan &amp; Photo Proof</a:t>
            </a:r>
          </a:p>
          <a:p>
            <a:pPr>
              <a:spcAft>
                <a:spcPts val="700"/>
              </a:spcAft>
              <a:defRPr sz="1050">
                <a:solidFill>
                  <a:srgbClr val="64748B"/>
                </a:solidFill>
              </a:defRPr>
            </a:pPr>
            <a:r>
              <a:t>Warehouse camera scans the recipient mechanic's QR badge AND snaps a physical photo of the parts handover.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4. Immutable Audit Verification</a:t>
            </a:r>
          </a:p>
          <a:p>
            <a:pPr>
              <a:spcAft>
                <a:spcPts val="700"/>
              </a:spcAft>
              <a:defRPr sz="1050">
                <a:solidFill>
                  <a:srgbClr val="64748B"/>
                </a:solidFill>
              </a:defRPr>
            </a:pPr>
            <a:r>
              <a:t>Transaction marked VERIFIED with timestamp, technician ID, and photo proof. Unverified material issues are hard-blocked.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</a:defRPr>
            </a:pPr>
            <a:r>
              <a:t>RETAIL &amp; CHECKOUT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Phase 5: High-Speed Touchscreen POS Counter Operations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257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9728" cy="2331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48006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🔒 Auto-Locked Branch Assignment</a:t>
            </a:r>
          </a:p>
          <a:p>
            <a:pPr>
              <a:lnSpc>
                <a:spcPct val="125000"/>
              </a:lnSpc>
              <a:defRPr sz="1100">
                <a:solidFill>
                  <a:srgbClr val="64748B"/>
                </a:solidFill>
              </a:defRPr>
            </a:pPr>
            <a:r>
              <a:t>The cashier's operating company is automatically detected from their linked Employee / Cashier Profile and permanently locked as a read-only badge. Eliminates accidental cross-branch billing errors.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25880"/>
            <a:ext cx="5257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325880"/>
            <a:ext cx="109728" cy="2331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08760"/>
            <a:ext cx="48006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📷 Camera QR Badge Shift Login</a:t>
            </a:r>
          </a:p>
          <a:p>
            <a:pPr>
              <a:lnSpc>
                <a:spcPct val="125000"/>
              </a:lnSpc>
              <a:defRPr sz="1100">
                <a:solidFill>
                  <a:srgbClr val="64748B"/>
                </a:solidFill>
              </a:defRPr>
            </a:pPr>
            <a:r>
              <a:t>Cashiers sign into active shifts by presenting their physical ID badge to the device camera. Automatically links active POS Opening Entry and registers drawer float.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257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840480"/>
            <a:ext cx="109728" cy="2331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23360"/>
            <a:ext cx="48006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💳 Multi-Payment Tender Suite</a:t>
            </a:r>
          </a:p>
          <a:p>
            <a:pPr>
              <a:lnSpc>
                <a:spcPct val="125000"/>
              </a:lnSpc>
              <a:defRPr sz="1100">
                <a:solidFill>
                  <a:srgbClr val="64748B"/>
                </a:solidFill>
              </a:defRPr>
            </a:pPr>
            <a:r>
              <a:t>Supports Cash (with quick denomination buttons +100, +500, +1000), Credit/Debit Card, GCash, Maya, and BDO Bank Transfer. Auto-fills exact balance on card/e-wallet selection.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840480"/>
            <a:ext cx="5257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3840480"/>
            <a:ext cx="109728" cy="2331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023360"/>
            <a:ext cx="48006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🧾 Thermal Receipts &amp; Real-Time Sync</a:t>
            </a:r>
          </a:p>
          <a:p>
            <a:pPr>
              <a:lnSpc>
                <a:spcPct val="125000"/>
              </a:lnSpc>
              <a:defRPr sz="1100">
                <a:solidFill>
                  <a:srgbClr val="64748B"/>
                </a:solidFill>
              </a:defRPr>
            </a:pPr>
            <a:r>
              <a:t>Generates 80mm/58mm thermal receipts with official BIR numbers, QR vehicle links, and transaction logs. Standalone POS tab syncs immediately with ERPNext backend.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EA5E9"/>
                </a:solidFill>
              </a:defRPr>
            </a:pPr>
            <a:r>
              <a:t>INTEGRATION ARCHITECTURE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The Accounting Bridge: Dual-Ledger Synchronization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25780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08760"/>
            <a:ext cx="4800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EA5E9"/>
                </a:solidFill>
              </a:defRPr>
            </a:pPr>
            <a:r>
              <a:t>Real-Time Transaction Bridge (`create_from_pos`)</a:t>
            </a:r>
          </a:p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</a:defRPr>
            </a:pPr>
            <a:r>
              <a:t>1. Front-End Payload Dispatch</a:t>
            </a:r>
          </a:p>
          <a:p>
            <a:pPr>
              <a:spcAft>
                <a:spcPts val="700"/>
              </a:spcAft>
              <a:defRPr sz="1050">
                <a:solidFill>
                  <a:srgbClr val="CBD5E1"/>
                </a:solidFill>
              </a:defRPr>
            </a:pPr>
            <a:r>
              <a:t>Cashier completes counter sale; POS SPA dispatches JSON containing Customer, Vehicle Plate, Items, Taxes, and Payment Tenders.</a:t>
            </a:r>
          </a:p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</a:defRPr>
            </a:pPr>
            <a:r>
              <a:t>2. Active POS Opening Entry Verification</a:t>
            </a:r>
          </a:p>
          <a:p>
            <a:pPr>
              <a:spcAft>
                <a:spcPts val="700"/>
              </a:spcAft>
              <a:defRPr sz="1050">
                <a:solidFill>
                  <a:srgbClr val="CBD5E1"/>
                </a:solidFill>
              </a:defRPr>
            </a:pPr>
            <a:r>
              <a:t>Bridge checks for an open `POS Opening Entry` for cashier &amp; branch. If missing, automatically provisions and submits opening float.</a:t>
            </a:r>
          </a:p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</a:defRPr>
            </a:pPr>
            <a:r>
              <a:t>3. Create `Vehicle POS Invoice`</a:t>
            </a:r>
          </a:p>
          <a:p>
            <a:pPr>
              <a:spcAft>
                <a:spcPts val="700"/>
              </a:spcAft>
              <a:defRPr sz="1050">
                <a:solidFill>
                  <a:srgbClr val="CBD5E1"/>
                </a:solidFill>
              </a:defRPr>
            </a:pPr>
            <a:r>
              <a:t>Instantiates custom `VMSPOS-YYYY-#####` containing vehicle-specific metadata, mileage, and technician attribution.</a:t>
            </a:r>
          </a:p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</a:defRPr>
            </a:pPr>
            <a:r>
              <a:t>4. Auto-Submit ERPNext `POS Invoice`</a:t>
            </a:r>
          </a:p>
          <a:p>
            <a:pPr>
              <a:spcAft>
                <a:spcPts val="700"/>
              </a:spcAft>
              <a:defRPr sz="1050">
                <a:solidFill>
                  <a:srgbClr val="CBD5E1"/>
                </a:solidFill>
              </a:defRPr>
            </a:pPr>
            <a:r>
              <a:t>Concurrently constructs standard ERPNext `POS Invoice` (`ACC-PSINV-YYYY-#####`), submitting directly to the General Ledger &amp; Stock Ledger.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25880"/>
            <a:ext cx="525780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800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Dual Document Architecture &amp; Integrity</a:t>
            </a:r>
          </a:p>
          <a:p>
            <a:pPr>
              <a:spcAft>
                <a:spcPts val="200"/>
              </a:spcAft>
              <a:defRPr sz="1150" b="1">
                <a:solidFill>
                  <a:srgbClr val="0EA5E9"/>
                </a:solidFill>
              </a:defRPr>
            </a:pPr>
            <a:r>
              <a:t>🚗 Operational Layer: Vehicle POS Invoice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</a:defRPr>
            </a:pPr>
            <a:r>
              <a:t>• Record: `tabVehicle POS Invoice` (e.g. VMSPOS-2026-00033)</a:t>
            </a:r>
            <a:br/>
            <a:r>
              <a:t>• Purpose: Fast counter search, bay job linking, technician commissions, vehicle service history card, and reprint.</a:t>
            </a:r>
          </a:p>
          <a:p>
            <a:pPr>
              <a:spcAft>
                <a:spcPts val="200"/>
              </a:spcAft>
              <a:defRPr sz="1150" b="1">
                <a:solidFill>
                  <a:srgbClr val="10B981"/>
                </a:solidFill>
              </a:defRPr>
            </a:pPr>
            <a:r>
              <a:t>🏛️ Accounting Layer: ERPNext POS Invoice</a:t>
            </a:r>
          </a:p>
          <a:p>
            <a:pPr>
              <a:spcAft>
                <a:spcPts val="1000"/>
              </a:spcAft>
              <a:defRPr sz="1050">
                <a:solidFill>
                  <a:srgbClr val="CBD5E1"/>
                </a:solidFill>
              </a:defRPr>
            </a:pPr>
            <a:r>
              <a:t>• Record: `tabPOS Invoice` (e.g. ACC-PSINV-2026-00032)</a:t>
            </a:r>
            <a:br/>
            <a:r>
              <a:t>• Purpose: Immutable General Ledger entries, Stock Ledger deductions, BIR CAS tax compliance, and official financial statements.</a:t>
            </a:r>
          </a:p>
          <a:p>
            <a:pPr>
              <a:defRPr sz="1050" b="1">
                <a:solidFill>
                  <a:srgbClr val="F59E0B"/>
                </a:solidFill>
              </a:defRPr>
            </a:pPr>
            <a:r>
              <a:t>✅ Cross-Document Integrity: Bidirectional relational linkage stored on both records ensures zero orphan transactions or revenue leakage.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</a:defRPr>
            </a:pPr>
            <a:r>
              <a:t>FINANCIAL ENGINE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Accounting Architecture: General Ledger &amp; Stock Ledger Automation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2578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08760"/>
            <a:ext cx="4800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</a:defRPr>
            </a:pPr>
            <a:r>
              <a:t>Automated Double-Entry Posting Rules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💰 Retail Tire / Counter POS Sale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• DEBIT: Cash / E-Wallet / Bank Clearing (Asset)</a:t>
            </a:r>
            <a:br/>
            <a:r>
              <a:t>• CREDIT: Sales Revenue (Income)</a:t>
            </a:r>
            <a:br/>
            <a:r>
              <a:t>• CREDIT: Output VAT 12% (Liability)</a:t>
            </a:r>
            <a:br/>
            <a:r>
              <a:t>• DEBIT: Cost of Goods Sold / COGS (Expense)</a:t>
            </a:r>
            <a:br/>
            <a:r>
              <a:t>• CREDIT: Stock-in-Hand (Asset)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🔧 Bay Labor &amp; Service Billing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• DEBIT: Cash / Customer Accounts Receivable (Asset)</a:t>
            </a:r>
            <a:br/>
            <a:r>
              <a:t>• CREDIT: Service &amp; Labor Income (Income)</a:t>
            </a:r>
            <a:br/>
            <a:r>
              <a:t>• CREDIT: Output VAT 12% (Liability)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📦 Workshop Internal Parts Issue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• DEBIT: Workshop Supplies / Repair Expense (Expense)</a:t>
            </a:r>
            <a:br/>
            <a:r>
              <a:t>• CREDIT: Stock-in-Hand (Asset)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25880"/>
            <a:ext cx="52578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800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Stock Ledger &amp; Perpetual Inventory Engine</a:t>
            </a:r>
          </a:p>
          <a:p>
            <a:pPr>
              <a:spcAft>
                <a:spcPts val="200"/>
              </a:spcAft>
              <a:defRPr sz="1100" b="1">
                <a:solidFill>
                  <a:srgbClr val="0EA5E9"/>
                </a:solidFill>
              </a:defRPr>
            </a:pPr>
            <a:r>
              <a:t>📊 Moving Average Valuation</a:t>
            </a:r>
          </a:p>
          <a:p>
            <a:pPr>
              <a:spcAft>
                <a:spcPts val="700"/>
              </a:spcAft>
              <a:defRPr sz="1050">
                <a:solidFill>
                  <a:srgbClr val="64748B"/>
                </a:solidFill>
              </a:defRPr>
            </a:pPr>
            <a:r>
              <a:t>Automatically re-calculates weighted average unit cost upon every supplier Purchase Receipt (GRN), reflecting freight and import duties accurately.</a:t>
            </a:r>
          </a:p>
          <a:p>
            <a:pPr>
              <a:spcAft>
                <a:spcPts val="200"/>
              </a:spcAft>
              <a:defRPr sz="1100" b="1">
                <a:solidFill>
                  <a:srgbClr val="0EA5E9"/>
                </a:solidFill>
              </a:defRPr>
            </a:pPr>
            <a:r>
              <a:t>⚡ Real-Time Stock Balance (`tabBin`)</a:t>
            </a:r>
          </a:p>
          <a:p>
            <a:pPr>
              <a:spcAft>
                <a:spcPts val="700"/>
              </a:spcAft>
              <a:defRPr sz="1050">
                <a:solidFill>
                  <a:srgbClr val="64748B"/>
                </a:solidFill>
              </a:defRPr>
            </a:pPr>
            <a:r>
              <a:t>Every counter invoice or material issue instantly writes to `tabStock Ledger Entry` (SLE), decrementing `actual_qty` in `tabBin` with zero batch lag.</a:t>
            </a:r>
          </a:p>
          <a:p>
            <a:pPr>
              <a:spcAft>
                <a:spcPts val="200"/>
              </a:spcAft>
              <a:defRPr sz="1100" b="1">
                <a:solidFill>
                  <a:srgbClr val="0EA5E9"/>
                </a:solidFill>
              </a:defRPr>
            </a:pPr>
            <a:r>
              <a:t>🛡️ Negative Stock Prohibition</a:t>
            </a:r>
          </a:p>
          <a:p>
            <a:pPr>
              <a:spcAft>
                <a:spcPts val="700"/>
              </a:spcAft>
              <a:defRPr sz="1050">
                <a:solidFill>
                  <a:srgbClr val="64748B"/>
                </a:solidFill>
              </a:defRPr>
            </a:pPr>
            <a:r>
              <a:t>System hard-blocks transactions if stock in the designated branch warehouse is insufficient, preventing fictitious inventory balances.</a:t>
            </a:r>
          </a:p>
          <a:p>
            <a:pPr>
              <a:spcAft>
                <a:spcPts val="200"/>
              </a:spcAft>
              <a:defRPr sz="1100" b="1">
                <a:solidFill>
                  <a:srgbClr val="0EA5E9"/>
                </a:solidFill>
              </a:defRPr>
            </a:pPr>
            <a:r>
              <a:t>🔄 Real-Time Gross Margin Reporting</a:t>
            </a:r>
          </a:p>
          <a:p>
            <a:pPr>
              <a:spcAft>
                <a:spcPts val="700"/>
              </a:spcAft>
              <a:defRPr sz="1050">
                <a:solidFill>
                  <a:srgbClr val="64748B"/>
                </a:solidFill>
              </a:defRPr>
            </a:pPr>
            <a:r>
              <a:t>Because COGS and Revenue post concurrently, gross profit margins per branch, tire model, or service type are available in real time.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</a:defRPr>
            </a:pPr>
            <a:r>
              <a:t>PURCHASING &amp; PAYABLES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Procure-to-Pay (P2P) Lifecycle &amp; Vendor 3-Way Matching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2542032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2542032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226771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1. Material Requisition</a:t>
            </a:r>
          </a:p>
          <a:p>
            <a:pPr>
              <a:lnSpc>
                <a:spcPct val="130000"/>
              </a:lnSpc>
              <a:defRPr sz="1050">
                <a:solidFill>
                  <a:srgbClr val="64748B"/>
                </a:solidFill>
              </a:defRPr>
            </a:pPr>
            <a:r>
              <a:t>Branch managers or auto-reorder triggers generate Material Requests when tire or parts stock drops below safety thresholds.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325880"/>
            <a:ext cx="2542032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56432" y="1325880"/>
            <a:ext cx="2542032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508760"/>
            <a:ext cx="226771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2. Purchase Order (PO)</a:t>
            </a:r>
          </a:p>
          <a:p>
            <a:pPr>
              <a:lnSpc>
                <a:spcPct val="130000"/>
              </a:lnSpc>
              <a:defRPr sz="1050">
                <a:solidFill>
                  <a:srgbClr val="64748B"/>
                </a:solidFill>
              </a:defRPr>
            </a:pPr>
            <a:r>
              <a:t>Commercial POs issued to manufacturers (Yokohama, Michelin, etc.). Integrated executive approval limits prevent unauthorized spending.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325880"/>
            <a:ext cx="2542032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344" y="1325880"/>
            <a:ext cx="254203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508760"/>
            <a:ext cx="226771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3. Purchase Receipt (GRN)</a:t>
            </a:r>
          </a:p>
          <a:p>
            <a:pPr>
              <a:lnSpc>
                <a:spcPct val="130000"/>
              </a:lnSpc>
              <a:defRPr sz="1050">
                <a:solidFill>
                  <a:srgbClr val="64748B"/>
                </a:solidFill>
              </a:defRPr>
            </a:pPr>
            <a:r>
              <a:t>Central warehouse verifies physical counts against bill of lading. Accrues temporary inventory liabilities into Stock-in-Hand GL.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1325880"/>
            <a:ext cx="2542032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06256" y="1325880"/>
            <a:ext cx="2542032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43416" y="1508760"/>
            <a:ext cx="226771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4. Purchase Invoice &amp; Settlement</a:t>
            </a:r>
          </a:p>
          <a:p>
            <a:pPr>
              <a:lnSpc>
                <a:spcPct val="130000"/>
              </a:lnSpc>
              <a:defRPr sz="1050">
                <a:solidFill>
                  <a:srgbClr val="64748B"/>
                </a:solidFill>
              </a:defRPr>
            </a:pPr>
            <a:r>
              <a:t>Strict 3-Way Match (PO vs GRN vs Vendor Bill). Posts final Accounts Payable liability with BIR Form 2307 withholding tax deduction.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83480"/>
            <a:ext cx="107286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07492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 b="1">
                <a:solidFill>
                  <a:srgbClr val="0F172A"/>
                </a:solidFill>
              </a:defRPr>
            </a:pPr>
            <a:r>
              <a:t>🛡️ Zero-Overbilling Governance &amp; Accounts Payable Controls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Enforces exact unit price adherence against negotiated supplier contracts.</a:t>
            </a:r>
            <a:br/>
            <a:r>
              <a:t>• Disallows payment processing on quantities greater than physically received and QC-accepted at the warehouse.</a:t>
            </a:r>
            <a:br/>
            <a:r>
              <a:t>• Generates real-time Accounts Payable Aging reports to optimize corporate cash flow and capture early-payment discounts.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</a:defRPr>
            </a:pPr>
            <a:r>
              <a:t>FIXED ASSETS ACCOUNTING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Workshop Machinery Capitalization &amp; Automated Depreciation (IAS 16)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2578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08760"/>
            <a:ext cx="4800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</a:defRPr>
            </a:pPr>
            <a:r>
              <a:t>Workshop Machinery Asset Portfolio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🔧 3D High-Definition Wheel Aligners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Capitalized across Dau, San Fernando, and Automan branches with serial tracking and camera sensor calibration schedules.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🔩 Automated Heavy-Duty Tire Changers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High-capacity changers with pneumatic helper arms, capitalized under Automotive Machinery.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⚖️ Dynamic High-Speed Wheel Balancers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Digital laser balancers capitalized and maintained under preventive calibration routines.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🏗️ Hydraulic 2-Post &amp; 4-Post Bay Lifts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Bay lifting equipment capitalized with mandatory hydraulic fluid and safety inspection logging.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25880"/>
            <a:ext cx="52578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800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Automated Monthly Depreciation Engine</a:t>
            </a:r>
          </a:p>
          <a:p>
            <a:pPr>
              <a:spcAft>
                <a:spcPts val="200"/>
              </a:spcAft>
              <a:defRPr sz="1100" b="1">
                <a:solidFill>
                  <a:srgbClr val="0EA5E9"/>
                </a:solidFill>
              </a:defRPr>
            </a:pPr>
            <a:r>
              <a:t>📅 Straight-Line Method (SLM)</a:t>
            </a:r>
          </a:p>
          <a:p>
            <a:pPr>
              <a:spcAft>
                <a:spcPts val="700"/>
              </a:spcAft>
              <a:defRPr sz="1050">
                <a:solidFill>
                  <a:srgbClr val="64748B"/>
                </a:solidFill>
              </a:defRPr>
            </a:pPr>
            <a:r>
              <a:t>Calculates monthly depreciation based on capitalized purchase cost, salvage value, and useful life (e.g. 5 to 10 years).</a:t>
            </a:r>
          </a:p>
          <a:p>
            <a:pPr>
              <a:spcAft>
                <a:spcPts val="200"/>
              </a:spcAft>
              <a:defRPr sz="1100" b="1">
                <a:solidFill>
                  <a:srgbClr val="0EA5E9"/>
                </a:solidFill>
              </a:defRPr>
            </a:pPr>
            <a:r>
              <a:t>⚡ Automated Monthly Journal Entries</a:t>
            </a:r>
          </a:p>
          <a:p>
            <a:pPr>
              <a:spcAft>
                <a:spcPts val="700"/>
              </a:spcAft>
              <a:defRPr sz="1050">
                <a:solidFill>
                  <a:srgbClr val="64748B"/>
                </a:solidFill>
              </a:defRPr>
            </a:pPr>
            <a:r>
              <a:t>On the 1st of every calendar month, ERPNext automatically generates and submits immutable GL entries:</a:t>
            </a:r>
          </a:p>
          <a:p>
            <a:pPr>
              <a:spcAft>
                <a:spcPts val="200"/>
              </a:spcAft>
              <a:defRPr sz="1100" b="1">
                <a:solidFill>
                  <a:srgbClr val="0EA5E9"/>
                </a:solidFill>
              </a:defRPr>
            </a:pPr>
            <a:r>
              <a:t>📝 General Ledger Booking:</a:t>
            </a:r>
          </a:p>
          <a:p>
            <a:pPr>
              <a:spcAft>
                <a:spcPts val="700"/>
              </a:spcAft>
              <a:defRPr sz="1050">
                <a:solidFill>
                  <a:srgbClr val="64748B"/>
                </a:solidFill>
              </a:defRPr>
            </a:pPr>
            <a:r>
              <a:t>  • DEBIT: Depreciation Expense (Operating Expense)</a:t>
            </a:r>
            <a:br/>
            <a:r>
              <a:t>  • CREDIT: Accumulated Depreciation (Contra Asset)</a:t>
            </a:r>
          </a:p>
          <a:p>
            <a:pPr>
              <a:spcAft>
                <a:spcPts val="200"/>
              </a:spcAft>
              <a:defRPr sz="1100" b="1">
                <a:solidFill>
                  <a:srgbClr val="0EA5E9"/>
                </a:solidFill>
              </a:defRPr>
            </a:pPr>
            <a:r>
              <a:t>📊 Asset Register &amp; Net Book Value (NBV)</a:t>
            </a:r>
          </a:p>
          <a:p>
            <a:pPr>
              <a:spcAft>
                <a:spcPts val="700"/>
              </a:spcAft>
              <a:defRPr sz="1050">
                <a:solidFill>
                  <a:srgbClr val="64748B"/>
                </a:solidFill>
              </a:defRPr>
            </a:pPr>
            <a:r>
              <a:t>Real-time Fixed Asset Register (`/desk/fixed-asset-register`) displays current NBV, accumulated depreciation, and asset location per branch.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</a:defRPr>
            </a:pPr>
            <a:r>
              <a:t>TAXATION &amp; COMPLIANCE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Philippine BIR CAS Statutory Compliance &amp; Tax Module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257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9728" cy="2331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48006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📑 BIR Form 2307 Withholding</a:t>
            </a:r>
          </a:p>
          <a:p>
            <a:pPr>
              <a:lnSpc>
                <a:spcPct val="125000"/>
              </a:lnSpc>
              <a:defRPr sz="1100">
                <a:solidFill>
                  <a:srgbClr val="64748B"/>
                </a:solidFill>
              </a:defRPr>
            </a:pPr>
            <a:r>
              <a:t>Automated generation of Certificate of Creditable Tax Withheld at Source for corporate fleet customers and supplier payables with accurate ATC tax codes.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25880"/>
            <a:ext cx="5257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325880"/>
            <a:ext cx="109728" cy="2331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08760"/>
            <a:ext cx="48006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📘 Official Sales Journal &amp; CRJ</a:t>
            </a:r>
          </a:p>
          <a:p>
            <a:pPr>
              <a:lnSpc>
                <a:spcPct val="125000"/>
              </a:lnSpc>
              <a:defRPr sz="1100">
                <a:solidFill>
                  <a:srgbClr val="64748B"/>
                </a:solidFill>
              </a:defRPr>
            </a:pPr>
            <a:r>
              <a:t>Generates Computerized Accounting System (CAS) Sales Journal and Cash Receipts Journal (CRJ) formatted to exact Bureau of Internal Revenue standards.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257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840480"/>
            <a:ext cx="109728" cy="2331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23360"/>
            <a:ext cx="48006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📙 Purchases Book &amp; CDJ</a:t>
            </a:r>
          </a:p>
          <a:p>
            <a:pPr>
              <a:lnSpc>
                <a:spcPct val="125000"/>
              </a:lnSpc>
              <a:defRPr sz="1100">
                <a:solidFill>
                  <a:srgbClr val="64748B"/>
                </a:solidFill>
              </a:defRPr>
            </a:pPr>
            <a:r>
              <a:t>Maintains statutory Purchases Book and Cash Disbursements Journal (CDJ), capturing input VAT and supplier TIN numbers.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840480"/>
            <a:ext cx="5257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3840480"/>
            <a:ext cx="109728" cy="2331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023360"/>
            <a:ext cx="48006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🏛️ Audit Trail &amp; General Ledger</a:t>
            </a:r>
          </a:p>
          <a:p>
            <a:pPr>
              <a:lnSpc>
                <a:spcPct val="125000"/>
              </a:lnSpc>
              <a:defRPr sz="1100">
                <a:solidFill>
                  <a:srgbClr val="64748B"/>
                </a:solidFill>
              </a:defRPr>
            </a:pPr>
            <a:r>
              <a:t>100% immutable General Ledger and General Journal transaction history with tamper-proof timestamping and electronic document serial numbers.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</a:defRPr>
            </a:pPr>
            <a:r>
              <a:t>FINANCIAL CONTROLS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Cashier Shift Balancing, Drawer Control &amp; Bank Reconciliation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2578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08760"/>
            <a:ext cx="4800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</a:defRPr>
            </a:pPr>
            <a:r>
              <a:t>Cashier Shift Balancing (`POS Closing Entry`)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1. Shift Initiation &amp; Drawer Float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Cashier starts shift with `POS Opening Entry`, recording physical opening petty cash float.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2. Real-Time Cash Collection Tracking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System continuously tracks cash, card, GCash, Maya, and bank transfers collected during the shift.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3. End-of-Day Blind Drawer Count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Cashier submits physical cash count at shift end. System compares expected vs. actual drawer count.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</a:defRPr>
            </a:pPr>
            <a:r>
              <a:t>4. Discrepancy &amp; Overage/Shortage Posting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Variance is automatically posted to Cash Short/Over Expense account for branch audit accountability.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25880"/>
            <a:ext cx="52578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800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Bank Statement Import &amp; Automated Reconciliation</a:t>
            </a:r>
          </a:p>
          <a:p>
            <a:pPr>
              <a:spcAft>
                <a:spcPts val="200"/>
              </a:spcAft>
              <a:defRPr sz="1100" b="1">
                <a:solidFill>
                  <a:srgbClr val="0EA5E9"/>
                </a:solidFill>
              </a:defRPr>
            </a:pPr>
            <a:r>
              <a:t>📥 Automated Bank Statement Import</a:t>
            </a:r>
          </a:p>
          <a:p>
            <a:pPr>
              <a:spcAft>
                <a:spcPts val="700"/>
              </a:spcAft>
              <a:defRPr sz="1050">
                <a:solidFill>
                  <a:srgbClr val="64748B"/>
                </a:solidFill>
              </a:defRPr>
            </a:pPr>
            <a:r>
              <a:t>Upload daily/monthly bank CSV/Excel statements (e.g. BDO, BPI, GCash Merchant settlement files).</a:t>
            </a:r>
          </a:p>
          <a:p>
            <a:pPr>
              <a:spcAft>
                <a:spcPts val="200"/>
              </a:spcAft>
              <a:defRPr sz="1100" b="1">
                <a:solidFill>
                  <a:srgbClr val="0EA5E9"/>
                </a:solidFill>
              </a:defRPr>
            </a:pPr>
            <a:r>
              <a:t>🔍 Rule-Based Auto-Matching</a:t>
            </a:r>
          </a:p>
          <a:p>
            <a:pPr>
              <a:spcAft>
                <a:spcPts val="700"/>
              </a:spcAft>
              <a:defRPr sz="1050">
                <a:solidFill>
                  <a:srgbClr val="64748B"/>
                </a:solidFill>
              </a:defRPr>
            </a:pPr>
            <a:r>
              <a:t>Reconciliation tool auto-matches bank deposits against ERPNext Payment Entries using transaction reference numbers, amounts, and dates.</a:t>
            </a:r>
          </a:p>
          <a:p>
            <a:pPr>
              <a:spcAft>
                <a:spcPts val="200"/>
              </a:spcAft>
              <a:defRPr sz="1100" b="1">
                <a:solidFill>
                  <a:srgbClr val="0EA5E9"/>
                </a:solidFill>
              </a:defRPr>
            </a:pPr>
            <a:r>
              <a:t>⚡ 1-Click Discrepancy Clearance</a:t>
            </a:r>
          </a:p>
          <a:p>
            <a:pPr>
              <a:spcAft>
                <a:spcPts val="700"/>
              </a:spcAft>
              <a:defRPr sz="1050">
                <a:solidFill>
                  <a:srgbClr val="64748B"/>
                </a:solidFill>
              </a:defRPr>
            </a:pPr>
            <a:r>
              <a:t>Clears matched transactions in the Bank Clearance ledger and identifies uncredited customer checks or bank charges.</a:t>
            </a:r>
          </a:p>
          <a:p>
            <a:pPr>
              <a:spcAft>
                <a:spcPts val="200"/>
              </a:spcAft>
              <a:defRPr sz="1100" b="1">
                <a:solidFill>
                  <a:srgbClr val="0EA5E9"/>
                </a:solidFill>
              </a:defRPr>
            </a:pPr>
            <a:r>
              <a:t>📊 Reconciled Cash Position</a:t>
            </a:r>
          </a:p>
          <a:p>
            <a:pPr>
              <a:spcAft>
                <a:spcPts val="700"/>
              </a:spcAft>
              <a:defRPr sz="1050">
                <a:solidFill>
                  <a:srgbClr val="64748B"/>
                </a:solidFill>
              </a:defRPr>
            </a:pPr>
            <a:r>
              <a:t>Provides finance leadership with true live cash positions across all branch bank accounts.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</a:defRPr>
            </a:pPr>
            <a:r>
              <a:t>EXECUTIVE ANALYTICS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Executive Business Intelligence &amp; Multi-Branch Visibility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4290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31546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563EB"/>
                </a:solidFill>
              </a:defRPr>
            </a:pPr>
            <a:r>
              <a:t>📊 Live Analytics Desk Page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URL: `/desk/vehicle_analytics`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Dynamic Multi-Filter: Filter by Company, branch, or date timespan (7D, 30D, YTD).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Revenue Split: Real-time visualization of Labor vs. Parts &amp; Tires sales.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Top 10 Rankings: Highest billing labor services (PMS, Alignment) and top-selling tire SKUs.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1325880"/>
            <a:ext cx="34290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17136" y="1508760"/>
            <a:ext cx="31546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59E0B"/>
                </a:solidFill>
              </a:defRPr>
            </a:pPr>
            <a:r>
              <a:t>🏢 12 Dedicated Dashboards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Executive Portals: Dedicated web portals for each of the 12 companies (e.g. `/executive-ultra-mrf-dau-main`).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Canonical Path Routing: Deep links directly open pre-filtered ERPNext Desk forms (`/desk/purchase-order?company=...`).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Pending Approvals Tab: High-level view of draft POs, Job Orders, and Invoices awaiting C-suite approval.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325880"/>
            <a:ext cx="34290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65592" y="1508760"/>
            <a:ext cx="31546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📈 Consolidated Financials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Consolidated P&amp;L: Real-time Profit &amp; Loss statement rolling up all 12 corporate entities.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Accounts Receivable Aging: Track fleet corporate receivables by 0-30, 31-60, 61-90, 90+ days.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Inventory Turnover: Monitor fast-moving vs dead-stock tires across 3 central warehouses.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</a:defRPr>
            </a:pPr>
            <a:r>
              <a:t>IMPLEMENTATION STRATEGY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Phased Implementation Plan &amp; Multi-Branch Rollout Schedule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254203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2542032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2267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2563EB"/>
                </a:solidFill>
              </a:defRPr>
            </a:pPr>
            <a:r>
              <a:t>PHASE 1: PROTOTYPE PILOT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</a:defRPr>
            </a:pPr>
            <a:r>
              <a:t>Weeks 1 – 4</a:t>
            </a:r>
          </a:p>
          <a:p>
            <a:pPr>
              <a:spcAft>
                <a:spcPts val="1000"/>
              </a:spcAft>
              <a:defRPr sz="1000" b="1">
                <a:solidFill>
                  <a:srgbClr val="0EA5E9"/>
                </a:solidFill>
              </a:defRPr>
            </a:pPr>
            <a:r>
              <a:t>Automan Car Care Center</a:t>
            </a:r>
          </a:p>
          <a:p>
            <a:pPr>
              <a:lnSpc>
                <a:spcPct val="130000"/>
              </a:lnSpc>
              <a:defRPr sz="950">
                <a:solidFill>
                  <a:srgbClr val="64748B"/>
                </a:solidFill>
              </a:defRPr>
            </a:pPr>
            <a:r>
              <a:t>• Master Data &amp; Service Catalog Setup</a:t>
            </a:r>
            <a:br/>
            <a:r>
              <a:t>• Touchscreen POS &amp; Job Orders Live Pilot</a:t>
            </a:r>
            <a:br/>
            <a:r>
              <a:t>• QR Receiver Safety Handover Testing</a:t>
            </a:r>
            <a:br/>
            <a:r>
              <a:t>• BIR Invoicing &amp; Staff Sign-Off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325880"/>
            <a:ext cx="254203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56432" y="1325880"/>
            <a:ext cx="2542032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508760"/>
            <a:ext cx="2267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EA5E9"/>
                </a:solidFill>
              </a:defRPr>
            </a:pPr>
            <a:r>
              <a:t>PHASE 2: CENTRAL HUBS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</a:defRPr>
            </a:pPr>
            <a:r>
              <a:t>Weeks 5 – 7</a:t>
            </a:r>
          </a:p>
          <a:p>
            <a:pPr>
              <a:spcAft>
                <a:spcPts val="1000"/>
              </a:spcAft>
              <a:defRPr sz="1000" b="1">
                <a:solidFill>
                  <a:srgbClr val="0EA5E9"/>
                </a:solidFill>
              </a:defRPr>
            </a:pPr>
            <a:r>
              <a:t>3 Central Warehouses</a:t>
            </a:r>
          </a:p>
          <a:p>
            <a:pPr>
              <a:lnSpc>
                <a:spcPct val="130000"/>
              </a:lnSpc>
              <a:defRPr sz="950">
                <a:solidFill>
                  <a:srgbClr val="64748B"/>
                </a:solidFill>
              </a:defRPr>
            </a:pPr>
            <a:r>
              <a:t>• Dau, San Fernando &amp; Mexico Warehouses</a:t>
            </a:r>
            <a:br/>
            <a:r>
              <a:t>• 570-Bin QR Tagging &amp; Physical Count</a:t>
            </a:r>
            <a:br/>
            <a:r>
              <a:t>• Automated Intercompany Order Flow</a:t>
            </a:r>
            <a:br/>
            <a:r>
              <a:t>• Minimum Re-Order Level Triggers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325880"/>
            <a:ext cx="254203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344" y="1325880"/>
            <a:ext cx="2542032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508760"/>
            <a:ext cx="2267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F59E0B"/>
                </a:solidFill>
              </a:defRPr>
            </a:pPr>
            <a:r>
              <a:t>PHASE 3: CLUSTER 1 BRANCHES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</a:defRPr>
            </a:pPr>
            <a:r>
              <a:t>Weeks 8 – 10</a:t>
            </a:r>
          </a:p>
          <a:p>
            <a:pPr>
              <a:spcAft>
                <a:spcPts val="1000"/>
              </a:spcAft>
              <a:defRPr sz="1000" b="1">
                <a:solidFill>
                  <a:srgbClr val="0EA5E9"/>
                </a:solidFill>
              </a:defRPr>
            </a:pPr>
            <a:r>
              <a:t>Dau Main, Annex, San Fernando</a:t>
            </a:r>
          </a:p>
          <a:p>
            <a:pPr>
              <a:lnSpc>
                <a:spcPct val="130000"/>
              </a:lnSpc>
              <a:defRPr sz="950">
                <a:solidFill>
                  <a:srgbClr val="64748B"/>
                </a:solidFill>
              </a:defRPr>
            </a:pPr>
            <a:r>
              <a:t>• Rapid POS Terminal Deployment</a:t>
            </a:r>
            <a:br/>
            <a:r>
              <a:t>• Workshop Bay Hardware Setup (Tablets)</a:t>
            </a:r>
            <a:br/>
            <a:r>
              <a:t>• Cashier &amp; Advisor Training</a:t>
            </a:r>
            <a:br/>
            <a:r>
              <a:t>• Live Cutover &amp; Branch Hypercare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1325880"/>
            <a:ext cx="254203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06256" y="1325880"/>
            <a:ext cx="2542032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43416" y="1508760"/>
            <a:ext cx="226771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10B981"/>
                </a:solidFill>
              </a:defRPr>
            </a:pPr>
            <a:r>
              <a:t>PHASE 4: CLUSTER 2 &amp; GO-LIVE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</a:defRPr>
            </a:pPr>
            <a:r>
              <a:t>Weeks 11 – 12</a:t>
            </a:r>
          </a:p>
          <a:p>
            <a:pPr>
              <a:spcAft>
                <a:spcPts val="1000"/>
              </a:spcAft>
              <a:defRPr sz="1000" b="1">
                <a:solidFill>
                  <a:srgbClr val="0EA5E9"/>
                </a:solidFill>
              </a:defRPr>
            </a:pPr>
            <a:r>
              <a:t>Wheel Core, Wheelhub, Telebastagan</a:t>
            </a:r>
          </a:p>
          <a:p>
            <a:pPr>
              <a:lnSpc>
                <a:spcPct val="130000"/>
              </a:lnSpc>
              <a:defRPr sz="950">
                <a:solidFill>
                  <a:srgbClr val="64748B"/>
                </a:solidFill>
              </a:defRPr>
            </a:pPr>
            <a:r>
              <a:t>• Onboard Remaining 3 Branches</a:t>
            </a:r>
            <a:br/>
            <a:r>
              <a:t>• Full Consolidated Executive BI Launch</a:t>
            </a:r>
            <a:br/>
            <a:r>
              <a:t>• Final External Audit Verification</a:t>
            </a:r>
            <a:br/>
            <a:r>
              <a:t>• Transition to BAU Maintenance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EA5E9"/>
                </a:solidFill>
              </a:defRPr>
            </a:pPr>
            <a:r>
              <a:t>CONCLUSION &amp; IMPACT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Summary: Business Transformation &amp; Strategic Value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2900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063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2563EB"/>
                </a:solidFill>
              </a:defRPr>
            </a:pPr>
            <a:r>
              <a:t>🏆 Operational Excellence</a:t>
            </a:r>
          </a:p>
          <a:p>
            <a:pPr>
              <a:lnSpc>
                <a:spcPct val="135000"/>
              </a:lnSpc>
              <a:defRPr sz="1100">
                <a:solidFill>
                  <a:srgbClr val="CBD5E1"/>
                </a:solidFill>
              </a:defRPr>
            </a:pPr>
            <a:r>
              <a:t>Eliminates paper-based job orders and disjointed point solutions. Unifies 38,654 vehicles, 481+ job orders, and 570 bin locations into a synchronized digital workflow from vehicle intake to vehicle release.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342900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554480"/>
            <a:ext cx="3063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0B981"/>
                </a:solidFill>
              </a:defRPr>
            </a:pPr>
            <a:r>
              <a:t>🛡️ 100% Financial &amp; Stock Integrity</a:t>
            </a:r>
          </a:p>
          <a:p>
            <a:pPr>
              <a:lnSpc>
                <a:spcPct val="135000"/>
              </a:lnSpc>
              <a:defRPr sz="1100">
                <a:solidFill>
                  <a:srgbClr val="CBD5E1"/>
                </a:solidFill>
              </a:defRPr>
            </a:pPr>
            <a:r>
              <a:t>Perpetual inventory tracking, mandatory QR receiver handover proof, and dual-ledger posting to standard ERPNext POS Invoices ensure zero stock slippage and audit-proof accounting.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371600"/>
            <a:ext cx="3429000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554480"/>
            <a:ext cx="3063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59E0B"/>
                </a:solidFill>
              </a:defRPr>
            </a:pPr>
            <a:r>
              <a:t>📈 Real-Time Multi-Branch Control</a:t>
            </a:r>
          </a:p>
          <a:p>
            <a:pPr>
              <a:lnSpc>
                <a:spcPct val="135000"/>
              </a:lnSpc>
              <a:defRPr sz="1100">
                <a:solidFill>
                  <a:srgbClr val="CBD5E1"/>
                </a:solidFill>
              </a:defRPr>
            </a:pPr>
            <a:r>
              <a:t>Empowers executive leadership with live consolidated Profit &amp; Loss, branch-by-branch rankings, labor vs. parts revenue splits, and 100% Philippine BIR CAS tax compliance.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03520"/>
            <a:ext cx="10728655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39496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FFFFF"/>
                </a:solidFill>
              </a:defRPr>
            </a:pPr>
            <a:r>
              <a:t>ULTRA MRF • ERPNext v16 Enterprise Vehicle Management System (VMS)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Ready for Executive Review, Prototype Pilot Deployment, and Multi-Branch Enterprise Scaling.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